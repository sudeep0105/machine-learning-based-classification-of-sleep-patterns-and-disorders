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2" r:id="rId4"/>
    <p:sldMasterId id="2147483684" r:id="rId5"/>
    <p:sldMasterId id="2147483696" r:id="rId6"/>
  </p:sldMasterIdLst>
  <p:sldIdLst>
    <p:sldId id="272" r:id="rId7"/>
    <p:sldId id="258" r:id="rId8"/>
    <p:sldId id="269" r:id="rId9"/>
    <p:sldId id="265" r:id="rId10"/>
    <p:sldId id="261" r:id="rId11"/>
    <p:sldId id="267" r:id="rId12"/>
    <p:sldId id="262" r:id="rId13"/>
    <p:sldId id="264" r:id="rId14"/>
    <p:sldId id="273" r:id="rId15"/>
    <p:sldId id="276" r:id="rId16"/>
    <p:sldId id="274" r:id="rId17"/>
    <p:sldId id="277" r:id="rId18"/>
    <p:sldId id="278" r:id="rId19"/>
    <p:sldId id="280" r:id="rId20"/>
    <p:sldId id="279" r:id="rId21"/>
    <p:sldId id="282" r:id="rId22"/>
    <p:sldId id="281" r:id="rId23"/>
    <p:sldId id="283" r:id="rId24"/>
    <p:sldId id="301" r:id="rId25"/>
    <p:sldId id="266" r:id="rId26"/>
    <p:sldId id="260" r:id="rId27"/>
    <p:sldId id="27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96247" autoAdjust="0"/>
  </p:normalViewPr>
  <p:slideViewPr>
    <p:cSldViewPr snapToGrid="0" showGuides="1">
      <p:cViewPr varScale="1">
        <p:scale>
          <a:sx n="89" d="100"/>
          <a:sy n="89" d="100"/>
        </p:scale>
        <p:origin x="1068" y="90"/>
      </p:cViewPr>
      <p:guideLst>
        <p:guide orient="horz" pos="215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1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1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1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endParaRPr kumimoji="0" lang="en-US"/>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endParaRPr kumimoji="0" lang="en-US"/>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endParaRPr kumimoji="0" lang="en-US"/>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endParaRPr kumimoji="0" lang="en-US"/>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endParaRPr kumimoji="0" lang="en-US"/>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endParaRPr kumimoji="0" lang="en-US"/>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B9CA7F16-7EF7-4BAE-A533-BC5C8B1B0BEB}"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fld>
            <a:endParaRPr lang="en-US"/>
          </a:p>
        </p:txBody>
      </p:sp>
      <p:sp>
        <p:nvSpPr>
          <p:cNvPr id="23" name="Title 22"/>
          <p:cNvSpPr>
            <a:spLocks noGrp="1"/>
          </p:cNvSpPr>
          <p:nvPr>
            <p:ph type="title"/>
          </p:nvPr>
        </p:nvSpPr>
        <p:spPr/>
        <p:txBody>
          <a:bodyPr rtlCol="0" anchor="b" anchorCtr="0"/>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endParaRPr kumimoji="0" lang="en-US"/>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7" name="Title 6"/>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endParaRPr lang="en-US"/>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slideLayout" Target="../slideLayouts/slideLayout56.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2"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customXml" Target="../ink/ink4.xml"/><Relationship Id="rId6" Type="http://schemas.openxmlformats.org/officeDocument/2006/relationships/image" Target="../media/image10.png"/><Relationship Id="rId5" Type="http://schemas.openxmlformats.org/officeDocument/2006/relationships/customXml" Target="../ink/ink3.xml"/><Relationship Id="rId4" Type="http://schemas.openxmlformats.org/officeDocument/2006/relationships/image" Target="../media/image9.png"/><Relationship Id="rId3" Type="http://schemas.openxmlformats.org/officeDocument/2006/relationships/customXml" Target="../ink/ink2.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1.xml"/></Relationships>
</file>

<file path=ppt/slides/_rels/slide1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1.png"/><Relationship Id="rId7" Type="http://schemas.openxmlformats.org/officeDocument/2006/relationships/customXml" Target="../ink/ink8.xml"/><Relationship Id="rId6" Type="http://schemas.openxmlformats.org/officeDocument/2006/relationships/image" Target="../media/image10.png"/><Relationship Id="rId5" Type="http://schemas.openxmlformats.org/officeDocument/2006/relationships/customXml" Target="../ink/ink7.xml"/><Relationship Id="rId4" Type="http://schemas.openxmlformats.org/officeDocument/2006/relationships/image" Target="../media/image9.png"/><Relationship Id="rId3" Type="http://schemas.openxmlformats.org/officeDocument/2006/relationships/customXml" Target="../ink/ink6.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5.xml"/></Relationships>
</file>

<file path=ppt/slides/_rels/slide14.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1.png"/><Relationship Id="rId7" Type="http://schemas.openxmlformats.org/officeDocument/2006/relationships/customXml" Target="../ink/ink12.xml"/><Relationship Id="rId6" Type="http://schemas.openxmlformats.org/officeDocument/2006/relationships/image" Target="../media/image10.png"/><Relationship Id="rId5" Type="http://schemas.openxmlformats.org/officeDocument/2006/relationships/customXml" Target="../ink/ink11.xml"/><Relationship Id="rId4" Type="http://schemas.openxmlformats.org/officeDocument/2006/relationships/image" Target="../media/image9.png"/><Relationship Id="rId3" Type="http://schemas.openxmlformats.org/officeDocument/2006/relationships/customXml" Target="../ink/ink10.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9.xml"/></Relationships>
</file>

<file path=ppt/slides/_rels/slide1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1.png"/><Relationship Id="rId7" Type="http://schemas.openxmlformats.org/officeDocument/2006/relationships/customXml" Target="../ink/ink16.xml"/><Relationship Id="rId6" Type="http://schemas.openxmlformats.org/officeDocument/2006/relationships/image" Target="../media/image10.png"/><Relationship Id="rId5" Type="http://schemas.openxmlformats.org/officeDocument/2006/relationships/customXml" Target="../ink/ink15.xml"/><Relationship Id="rId4" Type="http://schemas.openxmlformats.org/officeDocument/2006/relationships/image" Target="../media/image9.png"/><Relationship Id="rId3" Type="http://schemas.openxmlformats.org/officeDocument/2006/relationships/customXml" Target="../ink/ink14.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ITS-TP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2643" y="103376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ctrTitle"/>
          </p:nvPr>
        </p:nvSpPr>
        <p:spPr>
          <a:xfrm>
            <a:off x="73152" y="71119"/>
            <a:ext cx="12051792" cy="6700071"/>
          </a:xfrm>
          <a:ln w="12700">
            <a:solidFill>
              <a:schemeClr val="accent1"/>
            </a:solidFill>
          </a:ln>
        </p:spPr>
        <p:txBody>
          <a:bodyPr>
            <a:normAutofit/>
          </a:bodyPr>
          <a:lstStyle/>
          <a:p>
            <a:pPr marL="182880" indent="0" algn="ctr">
              <a:buNone/>
            </a:pPr>
            <a:br>
              <a:rPr lang="en-US" sz="1600" dirty="0">
                <a:solidFill>
                  <a:srgbClr val="FF0000"/>
                </a:solidFill>
                <a:effectLst/>
              </a:rPr>
            </a:br>
            <a:r>
              <a:rPr lang="en-US" sz="2700" dirty="0">
                <a:solidFill>
                  <a:srgbClr val="FF0000"/>
                </a:solidFill>
                <a:effectLst/>
              </a:rPr>
              <a:t>ANNAMACHARYA INSTITUTE OF TECHNOLOGY AND SCIENCES::TIRUPATHI</a:t>
            </a:r>
            <a:br>
              <a:rPr lang="en-US" sz="2400" b="1" dirty="0">
                <a:solidFill>
                  <a:srgbClr val="FF0000"/>
                </a:solidFill>
                <a:effectLst/>
              </a:rPr>
            </a:br>
            <a:r>
              <a:rPr lang="en-IN" sz="2400" b="1" dirty="0">
                <a:solidFill>
                  <a:srgbClr val="FF0000"/>
                </a:solidFill>
                <a:effectLst/>
              </a:rPr>
              <a:t>(AUTONOMOUS)</a:t>
            </a:r>
            <a:br>
              <a:rPr lang="en-IN" sz="2400" b="1" dirty="0">
                <a:solidFill>
                  <a:srgbClr val="FF0000"/>
                </a:solidFill>
                <a:effectLst/>
              </a:rPr>
            </a:br>
            <a:br>
              <a:rPr lang="en-IN" sz="2400" b="1" dirty="0">
                <a:solidFill>
                  <a:srgbClr val="FF0000"/>
                </a:solidFill>
                <a:effectLst/>
              </a:rPr>
            </a:br>
            <a:r>
              <a:rPr lang="en-IN" sz="2800" b="1" dirty="0">
                <a:solidFill>
                  <a:srgbClr val="0033CC"/>
                </a:solidFill>
                <a:effectLst/>
              </a:rPr>
              <a:t>D</a:t>
            </a:r>
            <a:r>
              <a:rPr lang="en-IN" sz="2800" dirty="0">
                <a:solidFill>
                  <a:srgbClr val="0033CC"/>
                </a:solidFill>
                <a:effectLst/>
              </a:rPr>
              <a:t>EPARTMENT OF ARTIFICIAL INTELLIGENCE</a:t>
            </a:r>
            <a:br>
              <a:rPr lang="en-IN" sz="2800" dirty="0">
                <a:solidFill>
                  <a:srgbClr val="0033CC"/>
                </a:solidFill>
                <a:effectLst/>
              </a:rPr>
            </a:br>
            <a:r>
              <a:rPr lang="en-US" altLang="en-IN" sz="2800" dirty="0">
                <a:solidFill>
                  <a:srgbClr val="0033CC"/>
                </a:solidFill>
                <a:effectLst/>
                <a:sym typeface="+mn-ea"/>
              </a:rPr>
              <a:t>(AIDS &amp; AIML)</a:t>
            </a:r>
            <a:br>
              <a:rPr lang="en-IN" sz="2400" dirty="0">
                <a:solidFill>
                  <a:srgbClr val="0033CC"/>
                </a:solidFill>
                <a:effectLst/>
              </a:rPr>
            </a:br>
            <a:r>
              <a:rPr lang="en-IN" sz="2400" dirty="0">
                <a:effectLst/>
                <a:latin typeface="Algerian" panose="04020705040A02060702" pitchFamily="82" charset="0"/>
              </a:rPr>
              <a:t>A.Y.: 202</a:t>
            </a:r>
            <a:r>
              <a:rPr lang="en-US" altLang="en-IN" sz="2400" dirty="0">
                <a:effectLst/>
                <a:latin typeface="Algerian" panose="04020705040A02060702" pitchFamily="82" charset="0"/>
              </a:rPr>
              <a:t>4</a:t>
            </a:r>
            <a:r>
              <a:rPr lang="en-IN" sz="2400" dirty="0">
                <a:effectLst/>
                <a:latin typeface="Algerian" panose="04020705040A02060702" pitchFamily="82" charset="0"/>
              </a:rPr>
              <a:t>-202</a:t>
            </a:r>
            <a:r>
              <a:rPr lang="en-US" altLang="en-IN" sz="2400" dirty="0">
                <a:effectLst/>
                <a:latin typeface="Algerian" panose="04020705040A02060702" pitchFamily="82" charset="0"/>
              </a:rPr>
              <a:t>5</a:t>
            </a:r>
            <a:br>
              <a:rPr lang="en-IN" sz="2400" dirty="0">
                <a:effectLst/>
                <a:latin typeface="Algerian" panose="04020705040A02060702" pitchFamily="82" charset="0"/>
              </a:rPr>
            </a:br>
            <a:br>
              <a:rPr lang="en-IN" sz="2400" dirty="0">
                <a:solidFill>
                  <a:srgbClr val="0033CC"/>
                </a:solidFill>
                <a:effectLst/>
              </a:rPr>
            </a:br>
            <a:r>
              <a:rPr lang="en-IN" sz="3200" dirty="0">
                <a:solidFill>
                  <a:schemeClr val="accent1">
                    <a:lumMod val="75000"/>
                  </a:schemeClr>
                </a:solidFill>
                <a:effectLst/>
              </a:rPr>
              <a:t>FIRST R</a:t>
            </a:r>
            <a:r>
              <a:rPr lang="en-IN" sz="3200" b="1" dirty="0">
                <a:solidFill>
                  <a:schemeClr val="accent1">
                    <a:lumMod val="75000"/>
                  </a:schemeClr>
                </a:solidFill>
                <a:effectLst/>
              </a:rPr>
              <a:t>EVIEW</a:t>
            </a:r>
            <a:br>
              <a:rPr lang="en-IN" sz="2700" b="1" dirty="0">
                <a:solidFill>
                  <a:schemeClr val="accent1">
                    <a:lumMod val="75000"/>
                  </a:schemeClr>
                </a:solidFill>
                <a:effectLst/>
              </a:rPr>
            </a:br>
            <a:r>
              <a:rPr lang="en-IN" sz="2200" b="1" dirty="0">
                <a:solidFill>
                  <a:schemeClr val="accent1">
                    <a:lumMod val="75000"/>
                  </a:schemeClr>
                </a:solidFill>
                <a:effectLst/>
              </a:rPr>
              <a:t>[</a:t>
            </a:r>
            <a:r>
              <a:rPr lang="en-IN" sz="2200" dirty="0">
                <a:solidFill>
                  <a:srgbClr val="0033CC"/>
                </a:solidFill>
                <a:effectLst/>
              </a:rPr>
              <a:t>Academic year: 202</a:t>
            </a:r>
            <a:r>
              <a:rPr lang="en-US" altLang="en-IN" sz="2200" dirty="0">
                <a:solidFill>
                  <a:srgbClr val="0033CC"/>
                </a:solidFill>
                <a:effectLst/>
              </a:rPr>
              <a:t>4</a:t>
            </a:r>
            <a:r>
              <a:rPr lang="en-IN" sz="2200" dirty="0">
                <a:solidFill>
                  <a:srgbClr val="0033CC"/>
                </a:solidFill>
                <a:effectLst/>
              </a:rPr>
              <a:t>-2</a:t>
            </a:r>
            <a:r>
              <a:rPr lang="en-US" altLang="en-IN" sz="2200" dirty="0">
                <a:solidFill>
                  <a:srgbClr val="0033CC"/>
                </a:solidFill>
                <a:effectLst/>
              </a:rPr>
              <a:t>5</a:t>
            </a:r>
            <a:r>
              <a:rPr lang="en-IN" sz="2200" dirty="0">
                <a:solidFill>
                  <a:srgbClr val="0033CC"/>
                </a:solidFill>
                <a:effectLst/>
              </a:rPr>
              <a:t>  *  Batch: 202</a:t>
            </a:r>
            <a:r>
              <a:rPr lang="en-US" altLang="en-IN" sz="2200" dirty="0">
                <a:solidFill>
                  <a:srgbClr val="0033CC"/>
                </a:solidFill>
                <a:effectLst/>
              </a:rPr>
              <a:t>1</a:t>
            </a:r>
            <a:r>
              <a:rPr lang="en-IN" sz="2200" dirty="0">
                <a:solidFill>
                  <a:srgbClr val="0033CC"/>
                </a:solidFill>
                <a:effectLst/>
              </a:rPr>
              <a:t>-2</a:t>
            </a:r>
            <a:r>
              <a:rPr lang="en-US" altLang="en-IN" sz="2200" dirty="0">
                <a:solidFill>
                  <a:srgbClr val="0033CC"/>
                </a:solidFill>
                <a:effectLst/>
              </a:rPr>
              <a:t>5</a:t>
            </a:r>
            <a:r>
              <a:rPr lang="en-IN" sz="2200" dirty="0">
                <a:solidFill>
                  <a:srgbClr val="0033CC"/>
                </a:solidFill>
                <a:effectLst/>
              </a:rPr>
              <a:t>] </a:t>
            </a: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6" name="TextBox 5"/>
          <p:cNvSpPr txBox="1"/>
          <p:nvPr/>
        </p:nvSpPr>
        <p:spPr>
          <a:xfrm>
            <a:off x="67055" y="4642971"/>
            <a:ext cx="12051793" cy="1630045"/>
          </a:xfrm>
          <a:prstGeom prst="rect">
            <a:avLst/>
          </a:prstGeom>
          <a:noFill/>
        </p:spPr>
        <p:txBody>
          <a:bodyPr wrap="square" rtlCol="0">
            <a:spAutoFit/>
          </a:bodyPr>
          <a:lstStyle/>
          <a:p>
            <a:r>
              <a:rPr lang="en-GB" sz="2000" b="1" dirty="0">
                <a:solidFill>
                  <a:srgbClr val="FF0000"/>
                </a:solidFill>
              </a:rPr>
              <a:t>	Under the Guidance of							</a:t>
            </a:r>
            <a:r>
              <a:rPr lang="en-US" altLang="en-GB" sz="2000" b="1" dirty="0">
                <a:solidFill>
                  <a:srgbClr val="FF0000"/>
                </a:solidFill>
              </a:rPr>
              <a:t>             </a:t>
            </a:r>
            <a:r>
              <a:rPr lang="en-GB" sz="2000" b="1" dirty="0">
                <a:solidFill>
                  <a:srgbClr val="FF0000"/>
                </a:solidFill>
              </a:rPr>
              <a:t>Head of the Department</a:t>
            </a:r>
            <a:endParaRPr lang="en-GB" sz="2000" b="1" dirty="0">
              <a:solidFill>
                <a:srgbClr val="FF0000"/>
              </a:solidFill>
            </a:endParaRPr>
          </a:p>
          <a:p>
            <a:r>
              <a:rPr lang="en-GB" sz="2000" b="1" dirty="0">
                <a:solidFill>
                  <a:srgbClr val="0033CC"/>
                </a:solidFill>
              </a:rPr>
              <a:t>	</a:t>
            </a:r>
            <a:r>
              <a:rPr lang="en-GB" sz="2000" b="1" dirty="0" err="1">
                <a:solidFill>
                  <a:srgbClr val="0033CC"/>
                </a:solidFill>
                <a:sym typeface="+mn-ea"/>
              </a:rPr>
              <a:t>M</a:t>
            </a:r>
            <a:r>
              <a:rPr lang="en-US" altLang="en-GB" sz="2000" b="1" dirty="0" err="1">
                <a:solidFill>
                  <a:srgbClr val="0033CC"/>
                </a:solidFill>
                <a:sym typeface="+mn-ea"/>
              </a:rPr>
              <a:t>s V S Gayathri , M.Tech</a:t>
            </a:r>
            <a:r>
              <a:rPr lang="en-GB" sz="2000" b="1" dirty="0">
                <a:solidFill>
                  <a:srgbClr val="0033CC"/>
                </a:solidFill>
              </a:rPr>
              <a:t>						</a:t>
            </a:r>
            <a:r>
              <a:rPr lang="en-US" altLang="en-GB" sz="2000" b="1" dirty="0">
                <a:solidFill>
                  <a:srgbClr val="0033CC"/>
                </a:solidFill>
              </a:rPr>
              <a:t>             </a:t>
            </a:r>
            <a:r>
              <a:rPr lang="en-GB" sz="2000" b="1" dirty="0">
                <a:solidFill>
                  <a:srgbClr val="0033CC"/>
                </a:solidFill>
              </a:rPr>
              <a:t>Dr. </a:t>
            </a:r>
            <a:r>
              <a:rPr lang="en-GB" sz="2000" b="1" dirty="0" err="1">
                <a:solidFill>
                  <a:srgbClr val="0033CC"/>
                </a:solidFill>
              </a:rPr>
              <a:t>C.Siva</a:t>
            </a:r>
            <a:r>
              <a:rPr lang="en-US" altLang="en-GB" sz="2000" b="1" dirty="0" err="1">
                <a:solidFill>
                  <a:srgbClr val="0033CC"/>
                </a:solidFill>
              </a:rPr>
              <a:t> </a:t>
            </a:r>
            <a:r>
              <a:rPr lang="en-GB" sz="2000" b="1" dirty="0" err="1">
                <a:solidFill>
                  <a:srgbClr val="0033CC"/>
                </a:solidFill>
              </a:rPr>
              <a:t>Balaji</a:t>
            </a:r>
            <a:r>
              <a:rPr lang="en-GB" sz="2000" b="1" dirty="0">
                <a:solidFill>
                  <a:srgbClr val="0033CC"/>
                </a:solidFill>
              </a:rPr>
              <a:t> Yadav, M.Tech., Ph.D</a:t>
            </a:r>
            <a:endParaRPr lang="en-GB" sz="2000" b="1" dirty="0">
              <a:solidFill>
                <a:srgbClr val="0033CC"/>
              </a:solidFill>
            </a:endParaRPr>
          </a:p>
          <a:p>
            <a:r>
              <a:rPr lang="en-GB" sz="2000" b="1" dirty="0"/>
              <a:t>	Assistant Professor,								</a:t>
            </a:r>
            <a:r>
              <a:rPr lang="en-US" altLang="en-GB" sz="2000" b="1" dirty="0"/>
              <a:t>       </a:t>
            </a:r>
            <a:r>
              <a:rPr lang="en-GB" sz="2000" b="1" dirty="0"/>
              <a:t>Professor, 			</a:t>
            </a:r>
            <a:endParaRPr lang="en-GB" sz="2000" b="1" dirty="0"/>
          </a:p>
          <a:p>
            <a:r>
              <a:rPr lang="en-GB" sz="2000" b="1" dirty="0"/>
              <a:t>	Department of AI 	                                                       Department of AI</a:t>
            </a:r>
            <a:endParaRPr lang="en-GB" sz="2000" b="1" dirty="0"/>
          </a:p>
          <a:p>
            <a:r>
              <a:rPr lang="en-GB" sz="2000" b="1" dirty="0"/>
              <a:t>	AITS, Tirupati.	 										</a:t>
            </a:r>
            <a:r>
              <a:rPr lang="en-US" altLang="en-GB" sz="2000" b="1" dirty="0"/>
              <a:t>  </a:t>
            </a:r>
            <a:r>
              <a:rPr lang="en-GB" sz="2000" b="1" dirty="0"/>
              <a:t>AITS, Tirupati.</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77520" y="1117600"/>
            <a:ext cx="11196320" cy="0"/>
          </a:xfrm>
          <a:prstGeom prst="line">
            <a:avLst/>
          </a:prstGeom>
          <a:ln>
            <a:solidFill>
              <a:srgbClr val="0070C0"/>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
        <p:nvSpPr>
          <p:cNvPr id="2" name="Title 1"/>
          <p:cNvSpPr>
            <a:spLocks noGrp="1"/>
          </p:cNvSpPr>
          <p:nvPr>
            <p:ph type="title"/>
          </p:nvPr>
        </p:nvSpPr>
        <p:spPr>
          <a:xfrm>
            <a:off x="0" y="305128"/>
            <a:ext cx="12192000" cy="690552"/>
          </a:xfrm>
        </p:spPr>
        <p:txBody>
          <a:bodyPr>
            <a:normAutofit/>
          </a:bodyPr>
          <a:lstStyle/>
          <a:p>
            <a:pPr marL="0" indent="0" algn="l">
              <a:buNone/>
              <a:tabLst>
                <a:tab pos="355600" algn="l"/>
              </a:tabLst>
            </a:pPr>
            <a:r>
              <a:rPr lang="en-US" sz="3200" dirty="0">
                <a:solidFill>
                  <a:srgbClr val="6666FF"/>
                </a:solidFill>
              </a:rPr>
              <a:t>	</a:t>
            </a:r>
            <a:r>
              <a:rPr lang="en-US" sz="3200" dirty="0">
                <a:solidFill>
                  <a:srgbClr val="0070C0"/>
                </a:solidFill>
              </a:rPr>
              <a:t>PROJECT TITLE</a:t>
            </a:r>
            <a:endParaRPr lang="en-IN" sz="3200" b="1" dirty="0">
              <a:solidFill>
                <a:srgbClr val="0070C0"/>
              </a:solidFill>
            </a:endParaRPr>
          </a:p>
        </p:txBody>
      </p:sp>
      <p:sp>
        <p:nvSpPr>
          <p:cNvPr id="13" name="TextBox 12"/>
          <p:cNvSpPr txBox="1"/>
          <p:nvPr/>
        </p:nvSpPr>
        <p:spPr>
          <a:xfrm>
            <a:off x="91440" y="68325"/>
            <a:ext cx="12029440" cy="6721350"/>
          </a:xfrm>
          <a:prstGeom prst="rect">
            <a:avLst/>
          </a:prstGeom>
          <a:noFill/>
          <a:ln w="12700">
            <a:solidFill>
              <a:schemeClr val="accent1"/>
            </a:solidFill>
          </a:ln>
        </p:spPr>
        <p:txBody>
          <a:bodyPr wrap="square" rtlCol="0">
            <a:spAutoFit/>
          </a:bodyPr>
          <a:lstStyle/>
          <a:p>
            <a:endParaRPr lang="en-IN" dirty="0"/>
          </a:p>
        </p:txBody>
      </p:sp>
      <p:sp>
        <p:nvSpPr>
          <p:cNvPr id="12" name="TextBox 11"/>
          <p:cNvSpPr txBox="1"/>
          <p:nvPr/>
        </p:nvSpPr>
        <p:spPr>
          <a:xfrm>
            <a:off x="15240" y="2123440"/>
            <a:ext cx="12192000" cy="2122805"/>
          </a:xfrm>
          <a:prstGeom prst="rect">
            <a:avLst/>
          </a:prstGeom>
          <a:noFill/>
        </p:spPr>
        <p:txBody>
          <a:bodyPr wrap="square" rtlCol="0">
            <a:spAutoFit/>
          </a:bodyPr>
          <a:lstStyle/>
          <a:p>
            <a:pPr algn="ctr"/>
            <a:r>
              <a:rPr lang="en-IN" sz="4400" b="1" dirty="0">
                <a:solidFill>
                  <a:srgbClr val="FF0000"/>
                </a:solidFill>
                <a:effectLst/>
                <a:sym typeface="+mn-ea"/>
              </a:rPr>
              <a:t>Machine Learning-Based Classification of Sleep Patterns and Disorders</a:t>
            </a:r>
            <a:endParaRPr lang="en-IN" sz="4400" b="1" dirty="0">
              <a:solidFill>
                <a:srgbClr val="FF0000"/>
              </a:solidFill>
              <a:effectLst/>
            </a:endParaRPr>
          </a:p>
          <a:p>
            <a:pPr algn="ctr"/>
            <a:endParaRPr lang="en-IN" sz="4400" b="1" dirty="0"/>
          </a:p>
        </p:txBody>
      </p:sp>
      <p:sp>
        <p:nvSpPr>
          <p:cNvPr id="4" name="TextBox 3"/>
          <p:cNvSpPr txBox="1"/>
          <p:nvPr/>
        </p:nvSpPr>
        <p:spPr>
          <a:xfrm>
            <a:off x="-71120" y="3993524"/>
            <a:ext cx="12191999" cy="2891790"/>
          </a:xfrm>
          <a:prstGeom prst="rect">
            <a:avLst/>
          </a:prstGeom>
          <a:noFill/>
        </p:spPr>
        <p:txBody>
          <a:bodyPr wrap="square" rtlCol="0">
            <a:spAutoFit/>
          </a:bodyPr>
          <a:lstStyle/>
          <a:p>
            <a:r>
              <a:rPr lang="en-GB" sz="2000" b="1" dirty="0">
                <a:solidFill>
                  <a:srgbClr val="660033"/>
                </a:solidFill>
              </a:rPr>
              <a:t>				</a:t>
            </a:r>
            <a:r>
              <a:rPr lang="en-US" altLang="en-GB" sz="2000" b="1" dirty="0">
                <a:solidFill>
                  <a:srgbClr val="660033"/>
                </a:solidFill>
              </a:rPr>
              <a:t>               </a:t>
            </a:r>
            <a:r>
              <a:rPr lang="en-US" altLang="en-GB" sz="2800" b="1" dirty="0">
                <a:solidFill>
                  <a:srgbClr val="660033"/>
                </a:solidFill>
              </a:rPr>
              <a:t>AIDS-2-</a:t>
            </a:r>
            <a:r>
              <a:rPr lang="en-GB" sz="2800" b="1" dirty="0">
                <a:solidFill>
                  <a:srgbClr val="660033"/>
                </a:solidFill>
              </a:rPr>
              <a:t>Batch Number: </a:t>
            </a:r>
            <a:r>
              <a:rPr lang="en-US" altLang="en-GB" sz="2800" b="1" dirty="0">
                <a:solidFill>
                  <a:srgbClr val="660033"/>
                </a:solidFill>
              </a:rPr>
              <a:t>0</a:t>
            </a:r>
            <a:r>
              <a:rPr lang="en-GB" sz="2800" b="1" dirty="0">
                <a:solidFill>
                  <a:srgbClr val="660033"/>
                </a:solidFill>
              </a:rPr>
              <a:t>1</a:t>
            </a:r>
            <a:endParaRPr lang="en-GB" sz="2800" b="1" dirty="0">
              <a:solidFill>
                <a:srgbClr val="660033"/>
              </a:solidFill>
            </a:endParaRPr>
          </a:p>
          <a:p>
            <a:endParaRPr lang="en-GB" sz="1400" b="1" dirty="0"/>
          </a:p>
          <a:p>
            <a:r>
              <a:rPr lang="en-US" sz="2400" b="1" dirty="0"/>
              <a:t>				21AK1A3063  		</a:t>
            </a:r>
            <a:r>
              <a:rPr lang="en-US" sz="2400" b="1" dirty="0">
                <a:sym typeface="+mn-ea"/>
              </a:rPr>
              <a:t>M.RAMANA KUMAR REDDY</a:t>
            </a:r>
            <a:endParaRPr lang="en-US" sz="2400" b="1" dirty="0"/>
          </a:p>
          <a:p>
            <a:r>
              <a:rPr lang="en-US" sz="2400" b="1" dirty="0"/>
              <a:t>				21AK1A3054  	     </a:t>
            </a:r>
            <a:r>
              <a:rPr lang="en-US" sz="2400" b="1" dirty="0">
                <a:sym typeface="+mn-ea"/>
              </a:rPr>
              <a:t>P.PAVAN KUMAR REDDY</a:t>
            </a:r>
            <a:endParaRPr lang="en-US" sz="2400" b="1" dirty="0"/>
          </a:p>
          <a:p>
            <a:r>
              <a:rPr lang="en-US" sz="2400" b="1" dirty="0"/>
              <a:t>				21AK1A3060		     </a:t>
            </a:r>
            <a:r>
              <a:rPr lang="en-US" sz="2400" b="1" dirty="0">
                <a:sym typeface="+mn-ea"/>
              </a:rPr>
              <a:t>B.PUNEETH</a:t>
            </a:r>
            <a:r>
              <a:rPr lang="en-US" sz="2400" b="1" dirty="0"/>
              <a:t>				</a:t>
            </a:r>
            <a:endParaRPr lang="en-US" sz="2400" b="1" dirty="0"/>
          </a:p>
          <a:p>
            <a:r>
              <a:rPr lang="en-US" sz="2400" b="1" dirty="0"/>
              <a:t>                    21AK1A3093  	     </a:t>
            </a:r>
            <a:r>
              <a:rPr lang="en-US" sz="2400" b="1" dirty="0">
                <a:sym typeface="+mn-ea"/>
              </a:rPr>
              <a:t>K.VENKATA SUDEEP</a:t>
            </a:r>
            <a:endParaRPr lang="en-IN" sz="2400" b="1" dirty="0"/>
          </a:p>
          <a:p>
            <a:endParaRPr lang="en-US" sz="2400" b="1" dirty="0"/>
          </a:p>
          <a:p>
            <a:r>
              <a:rPr lang="en-IN" sz="2000" b="1" dirty="0"/>
              <a:t>				</a:t>
            </a:r>
            <a:endParaRPr lang="en-IN" sz="2000" b="1"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 y="77833"/>
            <a:ext cx="12029440" cy="705287"/>
          </a:xfrm>
          <a:ln w="3175">
            <a:solidFill>
              <a:schemeClr val="accent1"/>
            </a:solidFill>
          </a:ln>
        </p:spPr>
        <p:txBody>
          <a:bodyPr>
            <a:normAutofit/>
          </a:bodyPr>
          <a:lstStyle/>
          <a:p>
            <a:pPr marL="0" indent="0" algn="l">
              <a:buNone/>
            </a:pPr>
            <a:r>
              <a:rPr lang="en-US" sz="3200" b="1" dirty="0">
                <a:solidFill>
                  <a:srgbClr val="6666FF"/>
                </a:solidFill>
              </a:rPr>
              <a:t> </a:t>
            </a:r>
            <a:r>
              <a:rPr lang="en-US" sz="2800" b="1" dirty="0">
                <a:solidFill>
                  <a:schemeClr val="bg2">
                    <a:lumMod val="50000"/>
                  </a:schemeClr>
                </a:solidFill>
              </a:rPr>
              <a:t>ABSTRACT</a:t>
            </a:r>
            <a:endParaRPr lang="en-IN" sz="3200" b="1" dirty="0">
              <a:solidFill>
                <a:schemeClr val="bg2">
                  <a:lumMod val="50000"/>
                </a:schemeClr>
              </a:solidFill>
            </a:endParaRPr>
          </a:p>
        </p:txBody>
      </p:sp>
      <p:sp>
        <p:nvSpPr>
          <p:cNvPr id="3" name="Content Placeholder 2"/>
          <p:cNvSpPr>
            <a:spLocks noGrp="1"/>
          </p:cNvSpPr>
          <p:nvPr>
            <p:ph sz="quarter" idx="13"/>
          </p:nvPr>
        </p:nvSpPr>
        <p:spPr>
          <a:xfrm>
            <a:off x="81280" y="864401"/>
            <a:ext cx="12029440" cy="5915766"/>
          </a:xfrm>
          <a:prstGeom prst="rect">
            <a:avLst/>
          </a:prstGeom>
          <a:ln w="3175">
            <a:solidFill>
              <a:schemeClr val="accent1"/>
            </a:solidFill>
          </a:ln>
        </p:spPr>
        <p:txBody>
          <a:bodyPr>
            <a:normAutofit/>
          </a:bodyPr>
          <a:lstStyle/>
          <a:p>
            <a:pPr marL="45720" indent="0" algn="just">
              <a:spcBef>
                <a:spcPts val="0"/>
              </a:spcBef>
              <a:spcAft>
                <a:spcPts val="0"/>
              </a:spcAft>
              <a:buNone/>
            </a:pPr>
            <a:endParaRPr lang="en-US" sz="600" dirty="0">
              <a:latin typeface="Tahoma" panose="020B0604030504040204" pitchFamily="34" charset="0"/>
              <a:ea typeface="Tahoma" panose="020B0604030504040204" pitchFamily="34" charset="0"/>
              <a:cs typeface="Tahoma" panose="020B0604030504040204" pitchFamily="34" charset="0"/>
            </a:endParaRPr>
          </a:p>
          <a:p>
            <a:pPr marL="45720" indent="0" algn="just">
              <a:lnSpc>
                <a:spcPct val="150000"/>
              </a:lnSpc>
              <a:buNone/>
            </a:pPr>
            <a:r>
              <a:rPr lang="en-US" sz="2000" dirty="0">
                <a:latin typeface="Tahoma" panose="020B0604030504040204" pitchFamily="34" charset="0"/>
                <a:ea typeface="Tahoma" panose="020B0604030504040204" pitchFamily="34" charset="0"/>
                <a:cs typeface="Tahoma" panose="020B0604030504040204" pitchFamily="34" charset="0"/>
              </a:rPr>
              <a:t>	</a:t>
            </a:r>
            <a:r>
              <a:rPr lang="en-US" dirty="0">
                <a:solidFill>
                  <a:srgbClr val="000000"/>
                </a:solidFill>
                <a:latin typeface="Times New Roman" panose="02020603050405020304" pitchFamily="18" charset="0"/>
                <a:sym typeface="+mn-ea"/>
              </a:rPr>
              <a:t>Sleep disorders significantly impact physical and mental health, necessitating accurate and accessible diagnostic methods. Traditional diagnostic techniques like Polysomnography (PSG) are often inconvenient, expensive, and limited in availability. This project aims to leverage machine learning algorithms to classify sleep disorders using health and lifestyle data from the Kaggle Sleep Health and Lifestyle Dataset. The existing system employs algorithms such as K-Nearest Neighbors (KNN), Support Vector Machine (SVM), Decision Tree, Random Forest, and Artificial Neural Network (ANN), which have several limitations including computational expense and sensitivity to hyperparameters. To address these issues, the proposed system implements ensemble learning techniques, specifically Stacking Classifier and Voting Classifier, to enhance accuracy, robustness, and interpretability. By combining the strengths of multiple models, the project seeks to provide a more efficient, cost-effective, and accessible solution for diagnosing sleep disorders, ultimately improving patient outcomes and quality of life.</a:t>
            </a:r>
            <a:endParaRPr lang="en-US" dirty="0">
              <a:solidFill>
                <a:srgbClr val="000000"/>
              </a:solidFill>
              <a:latin typeface="Times New Roman" panose="02020603050405020304" pitchFamily="18" charset="0"/>
              <a:sym typeface="+mn-ea"/>
            </a:endParaRPr>
          </a:p>
          <a:p>
            <a:pPr marL="45720" indent="0" algn="just">
              <a:lnSpc>
                <a:spcPct val="150000"/>
              </a:lnSpc>
              <a:buNone/>
            </a:pPr>
            <a:endParaRPr lang="en-IN" dirty="0">
              <a:solidFill>
                <a:srgbClr val="000000"/>
              </a:solidFill>
              <a:latin typeface="Times New Roman" panose="02020603050405020304" pitchFamily="18" charset="0"/>
            </a:endParaRPr>
          </a:p>
          <a:p>
            <a:pPr marL="45720" indent="0" algn="just">
              <a:lnSpc>
                <a:spcPct val="150000"/>
              </a:lnSpc>
              <a:buNone/>
            </a:pPr>
            <a:endParaRPr lang="en-US" b="1" dirty="0">
              <a:latin typeface="Arial" panose="020B0604020202020204" pitchFamily="34" charset="0"/>
              <a:ea typeface="Tahoma" panose="020B0604030504040204" pitchFamily="34" charset="0"/>
              <a:cs typeface="Arial" panose="020B0604020202020204" pitchFamily="34"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280" y="847633"/>
            <a:ext cx="12029440" cy="5932534"/>
          </a:xfrm>
          <a:prstGeom prst="rect">
            <a:avLst/>
          </a:prstGeom>
          <a:ln w="3175">
            <a:solidFill>
              <a:schemeClr val="accent1"/>
            </a:solidFill>
          </a:ln>
        </p:spPr>
        <p:txBody>
          <a:bodyPr>
            <a:normAutofit fontScale="80000"/>
          </a:bodyPr>
          <a:lstStyle/>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Machine learning helps uncover sleep patterns, making sleep disorder diagnosis easier and more accurate.</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Sleep disorders have a significant impact on millions of people worldwide, affecting their physical and mental health.</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Traditional diagnostic methods for sleep disorders, such as Polysomnography, have limitations, including inaccessibility and high cost. </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This project proposes the use of machine learning algorithms to classify sleep disorders using health and lifestyle data.</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effectLst/>
                <a:latin typeface="Times New Roman" panose="02020603050405020304" pitchFamily="18" charset="0"/>
                <a:cs typeface="Times New Roman" panose="02020603050405020304" pitchFamily="18" charset="0"/>
                <a:sym typeface="+mn-ea"/>
              </a:rPr>
              <a:t> Traditional machine learning algorithms, such as KNN and SVM, have limitations, including computational expense and risk of overfitting..</a:t>
            </a:r>
            <a:endParaRPr lang="en-US" sz="24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Ensemble learning techniques, such as Stacking Classifier and Voting Classifier, can be used to enhance the performance and robustness of sleep disorder classification models.</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a:t>
            </a:r>
            <a:r>
              <a:rPr lang="en-US" sz="2400" b="1" dirty="0">
                <a:latin typeface="Times New Roman" panose="02020603050405020304" pitchFamily="18" charset="0"/>
                <a:cs typeface="Times New Roman" panose="02020603050405020304" pitchFamily="18" charset="0"/>
                <a:sym typeface="+mn-ea"/>
              </a:rPr>
              <a:t>Keywords</a:t>
            </a:r>
            <a:r>
              <a:rPr lang="en-US" sz="2400" dirty="0">
                <a:latin typeface="Times New Roman" panose="02020603050405020304" pitchFamily="18" charset="0"/>
                <a:cs typeface="Times New Roman" panose="02020603050405020304" pitchFamily="18" charset="0"/>
                <a:sym typeface="+mn-ea"/>
              </a:rPr>
              <a:t>:Sleep Disorders,  Machine Learning, Stacking Classifier, Voting Classifier, Sleep Apnea, Insomnia.</a:t>
            </a:r>
            <a:endParaRPr lang="en-US" sz="2400" dirty="0">
              <a:latin typeface="Arial" panose="020B0604020202020204" pitchFamily="34" charset="0"/>
              <a:cs typeface="Arial" panose="020B0604020202020204" pitchFamily="34" charset="0"/>
            </a:endParaRPr>
          </a:p>
        </p:txBody>
      </p:sp>
      <p:sp>
        <p:nvSpPr>
          <p:cNvPr id="4"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DOMAIN INTRODUCTION </a:t>
            </a:r>
            <a:endParaRPr lang="en-IN" sz="3200" dirty="0">
              <a:solidFill>
                <a:schemeClr val="bg2">
                  <a:lumMod val="50000"/>
                </a:schemeClr>
              </a:solidFil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 y="71121"/>
            <a:ext cx="12043663" cy="690879"/>
          </a:xfrm>
          <a:ln w="3175">
            <a:solidFill>
              <a:schemeClr val="accent1"/>
            </a:solidFill>
          </a:ln>
        </p:spPr>
        <p:txBody>
          <a:bodyPr>
            <a:normAutofit/>
          </a:bodyPr>
          <a:lstStyle/>
          <a:p>
            <a:pPr marL="0" indent="0" algn="l">
              <a:buNone/>
            </a:pPr>
            <a:r>
              <a:rPr lang="en-US" sz="3200" b="1" dirty="0">
                <a:solidFill>
                  <a:srgbClr val="6666FF"/>
                </a:solidFill>
              </a:rPr>
              <a:t> RELATED WORKS (EXISTING)</a:t>
            </a:r>
            <a:endParaRPr lang="en-IN" sz="3200" b="1" dirty="0">
              <a:solidFill>
                <a:srgbClr val="6666FF"/>
              </a:solidFill>
            </a:endParaRPr>
          </a:p>
        </p:txBody>
      </p:sp>
      <p:graphicFrame>
        <p:nvGraphicFramePr>
          <p:cNvPr id="4" name="Table 3"/>
          <p:cNvGraphicFramePr>
            <a:graphicFrameLocks noGrp="1"/>
          </p:cNvGraphicFramePr>
          <p:nvPr/>
        </p:nvGraphicFramePr>
        <p:xfrm>
          <a:off x="58887" y="872279"/>
          <a:ext cx="12060000" cy="6404610"/>
        </p:xfrm>
        <a:graphic>
          <a:graphicData uri="http://schemas.openxmlformats.org/drawingml/2006/table">
            <a:tbl>
              <a:tblPr firstRow="1" bandRow="1">
                <a:tableStyleId>{5C22544A-7EE6-4342-B048-85BDC9FD1C3A}</a:tableStyleId>
              </a:tblPr>
              <a:tblGrid>
                <a:gridCol w="520872"/>
                <a:gridCol w="1926590"/>
                <a:gridCol w="3281045"/>
                <a:gridCol w="2159635"/>
                <a:gridCol w="1727200"/>
                <a:gridCol w="2444658"/>
              </a:tblGrid>
              <a:tr h="761474">
                <a:tc>
                  <a:txBody>
                    <a:bodyPr/>
                    <a:lstStyle/>
                    <a:p>
                      <a:pPr algn="ctr"/>
                      <a:r>
                        <a:rPr lang="en-US" sz="1600" dirty="0">
                          <a:latin typeface="Arial" panose="020B0604020202020204" pitchFamily="34" charset="0"/>
                          <a:cs typeface="Arial" panose="020B0604020202020204" pitchFamily="34" charset="0"/>
                        </a:rPr>
                        <a:t>Sl.</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Title of the Paper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Problem</a:t>
                      </a:r>
                      <a:r>
                        <a:rPr lang="en-US" sz="1600" baseline="0" dirty="0">
                          <a:latin typeface="Arial" panose="020B0604020202020204" pitchFamily="34" charset="0"/>
                          <a:cs typeface="Arial" panose="020B0604020202020204" pitchFamily="34" charset="0"/>
                        </a:rPr>
                        <a:t> Statement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Method /</a:t>
                      </a:r>
                      <a:r>
                        <a:rPr lang="en-US" sz="1600" baseline="0" dirty="0">
                          <a:latin typeface="Arial" panose="020B0604020202020204" pitchFamily="34" charset="0"/>
                          <a:cs typeface="Arial" panose="020B0604020202020204" pitchFamily="34" charset="0"/>
                        </a:rPr>
                        <a:t> Algorithm Used</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Year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Author Name</a:t>
                      </a:r>
                      <a:endParaRPr lang="en-US" sz="1600" dirty="0">
                        <a:latin typeface="Arial" panose="020B0604020202020204" pitchFamily="34" charset="0"/>
                        <a:cs typeface="Arial" panose="020B0604020202020204" pitchFamily="34" charset="0"/>
                      </a:endParaRPr>
                    </a:p>
                  </a:txBody>
                  <a:tcPr/>
                </a:tc>
              </a:tr>
              <a:tr h="2852420">
                <a:tc>
                  <a:txBody>
                    <a:bodyPr/>
                    <a:lstStyle/>
                    <a:p>
                      <a:pPr algn="ctr"/>
                      <a:r>
                        <a:rPr lang="en-US" sz="1600" dirty="0">
                          <a:latin typeface="Arial" panose="020B0604020202020204" pitchFamily="34" charset="0"/>
                          <a:cs typeface="Arial" panose="020B0604020202020204" pitchFamily="34" charset="0"/>
                        </a:rPr>
                        <a:t>1.</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Ensemble SVM Method for Automatic Sleep Stage Classification,</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This paper discusses the use of ensemble support vector machine (SVM) methods for automatic sleep stage classification. The authors address the challenges of accurately classifying sleep stages and demonstrate the effectiveness of ensemble methods in improving classification accuracy</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Support Vector Machine(SVM)</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r>
                        <a:rPr lang="en-US" sz="1600" dirty="0">
                          <a:latin typeface="Arial" panose="020B0604020202020204" pitchFamily="34" charset="0"/>
                          <a:cs typeface="Arial" panose="020B0604020202020204" pitchFamily="34" charset="0"/>
                        </a:rPr>
                        <a:t>2018</a:t>
                      </a: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US" sz="1600" dirty="0">
                          <a:effectLst/>
                          <a:latin typeface="Times New Roman" panose="02020603050405020304" pitchFamily="18" charset="0"/>
                          <a:cs typeface="Times New Roman" panose="02020603050405020304" pitchFamily="18" charset="0"/>
                          <a:sym typeface="+mn-ea"/>
                        </a:rPr>
                        <a:t>E. </a:t>
                      </a:r>
                      <a:r>
                        <a:rPr lang="en-US" sz="1600" dirty="0" err="1">
                          <a:effectLst/>
                          <a:latin typeface="Times New Roman" panose="02020603050405020304" pitchFamily="18" charset="0"/>
                          <a:cs typeface="Times New Roman" panose="02020603050405020304" pitchFamily="18" charset="0"/>
                          <a:sym typeface="+mn-ea"/>
                        </a:rPr>
                        <a:t>Alickovic</a:t>
                      </a:r>
                      <a:r>
                        <a:rPr lang="en-US" sz="1600" dirty="0">
                          <a:effectLst/>
                          <a:latin typeface="Times New Roman" panose="02020603050405020304" pitchFamily="18" charset="0"/>
                          <a:cs typeface="Times New Roman" panose="02020603050405020304" pitchFamily="18" charset="0"/>
                          <a:sym typeface="+mn-ea"/>
                        </a:rPr>
                        <a:t> &amp; A. Subasi</a:t>
                      </a:r>
                      <a:endParaRPr lang="en-US" sz="1600" b="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2790425">
                <a:tc>
                  <a:txBody>
                    <a:bodyPr/>
                    <a:lstStyle/>
                    <a:p>
                      <a:pPr algn="ctr"/>
                      <a:r>
                        <a:rPr lang="en-US" sz="1600" dirty="0">
                          <a:latin typeface="Arial" panose="020B0604020202020204" pitchFamily="34" charset="0"/>
                          <a:cs typeface="Arial" panose="020B0604020202020204" pitchFamily="34" charset="0"/>
                        </a:rPr>
                        <a:t>2.</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Deep Learning for Classification of Sleep Stages</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This study focuses on the application of deep learning techniques for the classification of sleep stages using EEG data. The authors emphasize the potential of deep learning models to handle complex and high-dimensional sleep data, achieving high classification accuracy.</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l"/>
                      <a:r>
                        <a:rPr lang="en-US" sz="1600" dirty="0">
                          <a:latin typeface="Times New Roman" panose="02020603050405020304" pitchFamily="18" charset="0"/>
                          <a:cs typeface="Times New Roman" panose="02020603050405020304" pitchFamily="18" charset="0"/>
                          <a:sym typeface="+mn-ea"/>
                        </a:rPr>
                        <a:t>Convolutional Neural Networks(CNN) &amp; </a:t>
                      </a:r>
                      <a:endParaRPr lang="en-US" sz="16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sym typeface="+mn-ea"/>
                        </a:rPr>
                        <a:t>Recurrent Neural Networks(RNN)</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r>
                        <a:rPr lang="en-US" sz="1600" dirty="0">
                          <a:latin typeface="Arial" panose="020B0604020202020204" pitchFamily="34" charset="0"/>
                          <a:cs typeface="Arial" panose="020B0604020202020204" pitchFamily="34" charset="0"/>
                        </a:rPr>
                        <a:t>2019</a:t>
                      </a: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US" sz="1600" dirty="0">
                          <a:effectLst/>
                          <a:latin typeface="Times New Roman" panose="02020603050405020304" pitchFamily="18" charset="0"/>
                          <a:cs typeface="Times New Roman" panose="02020603050405020304" pitchFamily="18" charset="0"/>
                          <a:sym typeface="+mn-ea"/>
                        </a:rPr>
                        <a:t>C. Tran, Y. Wijesuriya, R. </a:t>
                      </a:r>
                      <a:r>
                        <a:rPr lang="en-US" sz="1600" dirty="0" err="1">
                          <a:effectLst/>
                          <a:latin typeface="Times New Roman" panose="02020603050405020304" pitchFamily="18" charset="0"/>
                          <a:cs typeface="Times New Roman" panose="02020603050405020304" pitchFamily="18" charset="0"/>
                          <a:sym typeface="+mn-ea"/>
                        </a:rPr>
                        <a:t>Thuraisingham</a:t>
                      </a:r>
                      <a:r>
                        <a:rPr lang="en-US" sz="1600" dirty="0">
                          <a:effectLst/>
                          <a:latin typeface="Times New Roman" panose="02020603050405020304" pitchFamily="18" charset="0"/>
                          <a:cs typeface="Times New Roman" panose="02020603050405020304" pitchFamily="18" charset="0"/>
                          <a:sym typeface="+mn-ea"/>
                        </a:rPr>
                        <a:t>, A. Craig, &amp; H. Nguyen</a:t>
                      </a:r>
                      <a:endParaRPr lang="en-US" sz="160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bl>
          </a:graphicData>
        </a:graphic>
      </p:graphicFrame>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3831" y="862014"/>
          <a:ext cx="12060000" cy="5940000"/>
        </p:xfrm>
        <a:graphic>
          <a:graphicData uri="http://schemas.openxmlformats.org/drawingml/2006/table">
            <a:tbl>
              <a:tblPr firstRow="1" bandRow="1">
                <a:tableStyleId>{5C22544A-7EE6-4342-B048-85BDC9FD1C3A}</a:tableStyleId>
              </a:tblPr>
              <a:tblGrid>
                <a:gridCol w="532718"/>
                <a:gridCol w="2120403"/>
                <a:gridCol w="2807409"/>
                <a:gridCol w="2163334"/>
                <a:gridCol w="1978660"/>
                <a:gridCol w="2457476"/>
              </a:tblGrid>
              <a:tr h="596386">
                <a:tc>
                  <a:txBody>
                    <a:bodyPr/>
                    <a:lstStyle/>
                    <a:p>
                      <a:pPr algn="ctr"/>
                      <a:r>
                        <a:rPr lang="en-US" sz="1600" dirty="0">
                          <a:latin typeface="Arial" panose="020B0604020202020204" pitchFamily="34" charset="0"/>
                          <a:cs typeface="Arial" panose="020B0604020202020204" pitchFamily="34" charset="0"/>
                        </a:rPr>
                        <a:t>Sl.</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Title of the Paper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Problem</a:t>
                      </a:r>
                      <a:r>
                        <a:rPr lang="en-US" sz="1600" baseline="0" dirty="0">
                          <a:latin typeface="Arial" panose="020B0604020202020204" pitchFamily="34" charset="0"/>
                          <a:cs typeface="Arial" panose="020B0604020202020204" pitchFamily="34" charset="0"/>
                        </a:rPr>
                        <a:t> Statement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Method/</a:t>
                      </a:r>
                      <a:r>
                        <a:rPr lang="en-US" sz="1600" baseline="0" dirty="0">
                          <a:latin typeface="Arial" panose="020B0604020202020204" pitchFamily="34" charset="0"/>
                          <a:cs typeface="Arial" panose="020B0604020202020204" pitchFamily="34" charset="0"/>
                        </a:rPr>
                        <a:t> Algorithm Used</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Year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Author Name</a:t>
                      </a:r>
                      <a:endParaRPr lang="en-US" sz="1600" dirty="0">
                        <a:latin typeface="Arial" panose="020B0604020202020204" pitchFamily="34" charset="0"/>
                        <a:cs typeface="Arial" panose="020B0604020202020204" pitchFamily="34" charset="0"/>
                      </a:endParaRPr>
                    </a:p>
                  </a:txBody>
                  <a:tcPr/>
                </a:tc>
              </a:tr>
              <a:tr h="1639737">
                <a:tc>
                  <a:txBody>
                    <a:bodyPr/>
                    <a:lstStyle/>
                    <a:p>
                      <a:pPr algn="ctr"/>
                      <a:r>
                        <a:rPr lang="en-US" sz="1600" dirty="0">
                          <a:latin typeface="Arial" panose="020B0604020202020204" pitchFamily="34" charset="0"/>
                          <a:cs typeface="Arial" panose="020B0604020202020204" pitchFamily="34" charset="0"/>
                        </a:rPr>
                        <a:t>3.</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Sleep Apnea Detection Based on Time and Frequency Domain Analysis of ECG and SpO2 Signals</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The authors propose a method for detecting sleep apnea using time and frequency domain analysis of ECG and SpO2 signals. By applying machine learning algorithms to these physiological signals, they achieve high accuracy in identifying sleep apnea events.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Time-Domain Analysis &amp; </a:t>
                      </a:r>
                      <a:r>
                        <a:rPr lang="en-US" sz="1600" dirty="0">
                          <a:latin typeface="Times New Roman" panose="02020603050405020304" pitchFamily="18" charset="0"/>
                          <a:cs typeface="Times New Roman" panose="02020603050405020304" pitchFamily="18" charset="0"/>
                          <a:sym typeface="+mn-ea"/>
                        </a:rPr>
                        <a:t>Frequency Domain Analysis</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a:t>
                      </a:r>
                      <a:r>
                        <a:rPr lang="en-US" altLang="en-IN" sz="1600" kern="1200" dirty="0">
                          <a:solidFill>
                            <a:schemeClr val="dk1"/>
                          </a:solidFill>
                          <a:effectLst/>
                          <a:latin typeface="Times New Roman" panose="02020603050405020304" pitchFamily="18" charset="0"/>
                          <a:ea typeface="+mn-ea"/>
                          <a:cs typeface="Times New Roman" panose="02020603050405020304" pitchFamily="18" charset="0"/>
                        </a:rPr>
                        <a:t>20</a:t>
                      </a:r>
                      <a:endParaRPr lang="en-US" alt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fi-FI" sz="1600" dirty="0">
                          <a:latin typeface="Times New Roman" panose="02020603050405020304" pitchFamily="18" charset="0"/>
                          <a:cs typeface="Times New Roman" panose="02020603050405020304" pitchFamily="18" charset="0"/>
                          <a:sym typeface="+mn-ea"/>
                        </a:rPr>
                        <a:t>M. J. Sun, Z. F. Wu, &amp; X. B. Lu</a:t>
                      </a:r>
                      <a:endParaRPr lang="en-US" sz="1600" b="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2103049">
                <a:tc>
                  <a:txBody>
                    <a:bodyPr/>
                    <a:lstStyle/>
                    <a:p>
                      <a:pPr algn="ctr"/>
                      <a:r>
                        <a:rPr lang="en-US" sz="1600" dirty="0">
                          <a:latin typeface="Arial" panose="020B0604020202020204" pitchFamily="34" charset="0"/>
                          <a:cs typeface="Arial" panose="020B0604020202020204" pitchFamily="34" charset="0"/>
                        </a:rPr>
                        <a:t>4.</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Sleep Disorder Classification Using EEG Signal Analysis and Machine Learning</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The authors present a comprehensive approach to sleep disorder classification using EEG signal analysis and machine learning techniques. By extracting relevant features from EEG signals and applying classifiers such as SVM and deep neural networks, they achieve high classification accuracy</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sym typeface="+mn-ea"/>
                        </a:rPr>
                        <a:t>  EEG signal    analysis    &amp; Machine Learning Algorithms</a:t>
                      </a:r>
                      <a:endPar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a:t>
                      </a:r>
                      <a:r>
                        <a:rPr lang="en-US" altLang="en-IN" sz="1600" kern="1200" dirty="0">
                          <a:solidFill>
                            <a:schemeClr val="dk1"/>
                          </a:solidFill>
                          <a:effectLst/>
                          <a:latin typeface="Times New Roman" panose="02020603050405020304" pitchFamily="18" charset="0"/>
                          <a:ea typeface="+mn-ea"/>
                          <a:cs typeface="Times New Roman" panose="02020603050405020304" pitchFamily="18" charset="0"/>
                        </a:rPr>
                        <a:t>21</a:t>
                      </a:r>
                      <a:endParaRPr lang="en-US" alt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it-IT" sz="1600" dirty="0">
                          <a:effectLst/>
                          <a:latin typeface="Times New Roman" panose="02020603050405020304" pitchFamily="18" charset="0"/>
                          <a:cs typeface="Times New Roman" panose="02020603050405020304" pitchFamily="18" charset="0"/>
                          <a:sym typeface="+mn-ea"/>
                        </a:rPr>
                        <a:t>A. K. Vuppalapati, V. Guddeti, &amp; P. Prasad</a:t>
                      </a:r>
                      <a:endParaRPr lang="en-US" sz="1600" b="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1600828">
                <a:tc>
                  <a:txBody>
                    <a:bodyPr/>
                    <a:lstStyle/>
                    <a:p>
                      <a:pPr algn="ctr"/>
                      <a:r>
                        <a:rPr lang="en-US" sz="1600" dirty="0">
                          <a:latin typeface="Arial" panose="020B0604020202020204" pitchFamily="34" charset="0"/>
                          <a:cs typeface="Arial" panose="020B0604020202020204" pitchFamily="34" charset="0"/>
                        </a:rPr>
                        <a:t>5.</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Classification of Sleep Disorders Using Machine Learning Algorithms</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ctr"/>
                      <a:r>
                        <a:rPr lang="en-US" sz="1600" baseline="0"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This study explores various machine learning algorithms for the classification of sleep disorders based on polysomnography (PSG) data.</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sym typeface="+mn-ea"/>
                        </a:rPr>
                        <a:t>Machine Learning Algorithms</a:t>
                      </a:r>
                      <a:endPar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202</a:t>
                      </a:r>
                      <a:r>
                        <a:rPr lang="en-US" altLang="en-IN" sz="1600" kern="1200" dirty="0">
                          <a:solidFill>
                            <a:schemeClr val="dk1"/>
                          </a:solidFill>
                          <a:effectLst/>
                          <a:latin typeface="Times New Roman" panose="02020603050405020304" pitchFamily="18" charset="0"/>
                          <a:ea typeface="+mn-ea"/>
                          <a:cs typeface="Times New Roman" panose="02020603050405020304" pitchFamily="18" charset="0"/>
                        </a:rPr>
                        <a:t>3</a:t>
                      </a:r>
                      <a:endParaRPr lang="en-US" alt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effectLst/>
                          <a:latin typeface="Times New Roman" panose="02020603050405020304" pitchFamily="18" charset="0"/>
                          <a:cs typeface="Times New Roman" panose="02020603050405020304" pitchFamily="18" charset="0"/>
                          <a:sym typeface="+mn-ea"/>
                        </a:rPr>
                        <a:t>T. Radha, V. S. Kumar, &amp; S. Pradeep</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bl>
          </a:graphicData>
        </a:graphic>
      </p:graphicFrame>
      <p:sp>
        <p:nvSpPr>
          <p:cNvPr id="2" name="Title 1"/>
          <p:cNvSpPr>
            <a:spLocks noGrp="1"/>
          </p:cNvSpPr>
          <p:nvPr>
            <p:ph type="title"/>
          </p:nvPr>
        </p:nvSpPr>
        <p:spPr>
          <a:xfrm>
            <a:off x="74168" y="92773"/>
            <a:ext cx="12043663" cy="690879"/>
          </a:xfrm>
          <a:ln w="3175">
            <a:solidFill>
              <a:schemeClr val="accent1"/>
            </a:solidFill>
          </a:ln>
        </p:spPr>
        <p:txBody>
          <a:bodyPr>
            <a:normAutofit/>
          </a:bodyPr>
          <a:lstStyle/>
          <a:p>
            <a:pPr marL="0" indent="0" algn="l">
              <a:buNone/>
            </a:pPr>
            <a:r>
              <a:rPr lang="en-US" sz="3200" b="1" dirty="0">
                <a:solidFill>
                  <a:srgbClr val="6666FF"/>
                </a:solidFill>
              </a:rPr>
              <a:t> </a:t>
            </a:r>
            <a:r>
              <a:rPr lang="en-US" sz="2400" b="1" dirty="0">
                <a:solidFill>
                  <a:srgbClr val="6666FF"/>
                </a:solidFill>
              </a:rPr>
              <a:t>RELATED WORKS (EXISTING)   Continue… </a:t>
            </a:r>
            <a:endParaRPr lang="en-IN" sz="1800" b="1" dirty="0">
              <a:solidFill>
                <a:srgbClr val="6666FF"/>
              </a:solidFill>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280" y="872090"/>
            <a:ext cx="12029440" cy="5908077"/>
          </a:xfrm>
          <a:prstGeom prst="rect">
            <a:avLst/>
          </a:prstGeom>
          <a:ln w="3175">
            <a:solidFill>
              <a:schemeClr val="accent1"/>
            </a:solidFill>
          </a:ln>
        </p:spPr>
        <p:txBody>
          <a:bodyPr>
            <a:noAutofit/>
          </a:bodyPr>
          <a:lstStyle/>
          <a:p>
            <a:pPr marL="45720" indent="0" algn="just">
              <a:buNone/>
            </a:pPr>
            <a:endParaRPr lang="en-US" sz="1600" dirty="0"/>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The proposed system implements ensemble learning techniques to improve the classification of sleep disorders.</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sym typeface="+mn-ea"/>
              </a:rPr>
              <a:t>The Stacking Classifier involves training multiple base models and then using another model to combine their predictions. </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sym typeface="+mn-ea"/>
              </a:rPr>
              <a:t>The Voting Classifier combines the predictions of multiple models through majority voting or averaging.</a:t>
            </a:r>
            <a:endParaRPr lang="en-IN"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Improved Performance and Robustness: Ensemble learning techniques combine the strengths of multiple base models to enhance overall performance and robustness.</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sym typeface="+mn-ea"/>
              </a:rPr>
              <a:t>The Voting Classifier provides a more stable and accurate classification outcome by combining the predictions of multiple models</a:t>
            </a:r>
            <a:endParaRPr lang="en-US" sz="1800" dirty="0"/>
          </a:p>
        </p:txBody>
      </p:sp>
      <p:sp>
        <p:nvSpPr>
          <p:cNvPr id="4"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PROPOSED SYSTEM</a:t>
            </a:r>
            <a:endParaRPr lang="en-IN" sz="3200" dirty="0">
              <a:solidFill>
                <a:schemeClr val="bg2">
                  <a:lumMod val="50000"/>
                </a:schemeClr>
              </a:solidFill>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280" y="867966"/>
            <a:ext cx="12029440" cy="6000750"/>
          </a:xfrm>
          <a:prstGeom prst="rect">
            <a:avLst/>
          </a:prstGeom>
          <a:noFill/>
          <a:ln w="3175">
            <a:solidFill>
              <a:schemeClr val="accent1"/>
            </a:solidFill>
          </a:ln>
        </p:spPr>
        <p:txBody>
          <a:bodyPr wrap="square" rtlCol="0">
            <a:spAutoFit/>
          </a:bodyPr>
          <a:lstStyle/>
          <a:p>
            <a:pPr>
              <a:lnSpc>
                <a:spcPct val="150000"/>
              </a:lnSpc>
            </a:pPr>
            <a:r>
              <a:rPr lang="en-GB" sz="2400" b="1" dirty="0">
                <a:solidFill>
                  <a:srgbClr val="FF0000"/>
                </a:solidFill>
                <a:sym typeface="+mn-ea"/>
              </a:rPr>
              <a:t>Software Requirements:</a:t>
            </a:r>
            <a:r>
              <a:rPr lang="en-GB" sz="2400" b="1" dirty="0">
                <a:sym typeface="+mn-ea"/>
              </a:rPr>
              <a:t>							</a:t>
            </a:r>
            <a:endParaRPr lang="en-GB" sz="2400" dirty="0"/>
          </a:p>
          <a:p>
            <a:pPr>
              <a:lnSpc>
                <a:spcPct val="150000"/>
              </a:lnSpc>
            </a:pPr>
            <a:r>
              <a:rPr lang="en-GB" sz="2400" b="1" dirty="0">
                <a:sym typeface="+mn-ea"/>
              </a:rPr>
              <a:t>Application platform : </a:t>
            </a:r>
            <a:r>
              <a:rPr lang="en-GB" sz="2400" dirty="0">
                <a:sym typeface="+mn-ea"/>
              </a:rPr>
              <a:t>Python 3.10.8</a:t>
            </a:r>
            <a:r>
              <a:rPr lang="en-GB" sz="2400" dirty="0">
                <a:sym typeface="+mn-ea"/>
              </a:rPr>
              <a:t>		</a:t>
            </a:r>
            <a:endParaRPr lang="en-GB" sz="2400" dirty="0"/>
          </a:p>
          <a:p>
            <a:pPr>
              <a:lnSpc>
                <a:spcPct val="150000"/>
              </a:lnSpc>
            </a:pPr>
            <a:r>
              <a:rPr lang="en-GB" sz="2400" b="1" dirty="0">
                <a:sym typeface="+mn-ea"/>
              </a:rPr>
              <a:t>Operating System	   : </a:t>
            </a:r>
            <a:r>
              <a:rPr lang="en-US" sz="2400"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Windows 8/10/11</a:t>
            </a:r>
            <a:endParaRPr lang="en-GB" sz="2400" dirty="0"/>
          </a:p>
          <a:p>
            <a:pPr>
              <a:lnSpc>
                <a:spcPct val="150000"/>
              </a:lnSpc>
            </a:pPr>
            <a:r>
              <a:rPr lang="en-GB" sz="2400" b="1" dirty="0">
                <a:sym typeface="+mn-ea"/>
              </a:rPr>
              <a:t>IDE	</a:t>
            </a:r>
            <a:r>
              <a:rPr lang="en-GB" sz="2400" dirty="0">
                <a:sym typeface="+mn-ea"/>
              </a:rPr>
              <a:t>				  </a:t>
            </a:r>
            <a:r>
              <a:rPr lang="en-US" altLang="en-GB" sz="2400" dirty="0">
                <a:sym typeface="+mn-ea"/>
              </a:rPr>
              <a:t>     </a:t>
            </a:r>
            <a:r>
              <a:rPr lang="en-GB" sz="2400" dirty="0">
                <a:sym typeface="+mn-ea"/>
              </a:rPr>
              <a:t> : </a:t>
            </a:r>
            <a:r>
              <a:rPr lang="en-US" sz="2400" kern="0" dirty="0" err="1">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VSCode</a:t>
            </a:r>
            <a:endParaRPr lang="en-GB" sz="2400" dirty="0"/>
          </a:p>
          <a:p>
            <a:pPr>
              <a:lnSpc>
                <a:spcPct val="150000"/>
              </a:lnSpc>
            </a:pPr>
            <a:r>
              <a:rPr lang="en-US" sz="2400" b="1"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Server side Script     </a:t>
            </a:r>
            <a:r>
              <a:rPr lang="en-US" altLang="en-GB" sz="2400" dirty="0">
                <a:sym typeface="+mn-ea"/>
              </a:rPr>
              <a:t> </a:t>
            </a:r>
            <a:r>
              <a:rPr lang="en-GB" sz="2400" dirty="0">
                <a:sym typeface="+mn-ea"/>
              </a:rPr>
              <a:t>: </a:t>
            </a:r>
            <a:r>
              <a:rPr lang="en-US" sz="2400"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HTML, CSS, Bootstrap &amp; JS</a:t>
            </a:r>
            <a:endParaRPr lang="en-IN" sz="2400" dirty="0"/>
          </a:p>
          <a:p>
            <a:pPr>
              <a:lnSpc>
                <a:spcPct val="150000"/>
              </a:lnSpc>
            </a:pPr>
            <a:r>
              <a:rPr lang="en-GB" sz="2400" dirty="0">
                <a:sym typeface="+mn-ea"/>
              </a:rPr>
              <a:t>                                         </a:t>
            </a:r>
            <a:endParaRPr lang="en-GB" sz="2400" dirty="0"/>
          </a:p>
          <a:p>
            <a:pPr>
              <a:lnSpc>
                <a:spcPct val="150000"/>
              </a:lnSpc>
            </a:pPr>
            <a:r>
              <a:rPr lang="en-GB" sz="2400" b="1" dirty="0">
                <a:solidFill>
                  <a:srgbClr val="FF0000"/>
                </a:solidFill>
                <a:sym typeface="+mn-ea"/>
              </a:rPr>
              <a:t>Hardware Requirements:</a:t>
            </a:r>
            <a:endParaRPr lang="en-GB" sz="2400" b="1" dirty="0"/>
          </a:p>
          <a:p>
            <a:pPr>
              <a:lnSpc>
                <a:spcPct val="150000"/>
              </a:lnSpc>
            </a:pPr>
            <a:r>
              <a:rPr lang="en-GB" sz="2400" b="1" dirty="0">
                <a:sym typeface="+mn-ea"/>
              </a:rPr>
              <a:t>RAM	     </a:t>
            </a:r>
            <a:r>
              <a:rPr lang="en-US" altLang="en-GB" sz="2400" b="1" dirty="0">
                <a:sym typeface="+mn-ea"/>
              </a:rPr>
              <a:t>   </a:t>
            </a:r>
            <a:r>
              <a:rPr lang="en-GB" sz="2400" b="1" dirty="0">
                <a:sym typeface="+mn-ea"/>
              </a:rPr>
              <a:t>: </a:t>
            </a:r>
            <a:r>
              <a:rPr lang="en-US" altLang="en-GB" sz="2400" b="1" dirty="0">
                <a:sym typeface="+mn-ea"/>
              </a:rPr>
              <a:t>8</a:t>
            </a:r>
            <a:r>
              <a:rPr lang="en-US" sz="2400" dirty="0">
                <a:latin typeface="Trebuchet MS" panose="020B0603020202020204" charset="0"/>
                <a:cs typeface="Trebuchet MS" panose="020B0603020202020204" charset="0"/>
                <a:sym typeface="+mn-ea"/>
              </a:rPr>
              <a:t>GB (min)</a:t>
            </a:r>
            <a:endParaRPr lang="en-GB" sz="2400" dirty="0"/>
          </a:p>
          <a:p>
            <a:pPr>
              <a:lnSpc>
                <a:spcPct val="150000"/>
              </a:lnSpc>
            </a:pPr>
            <a:r>
              <a:rPr lang="en-GB" sz="2400" b="1" dirty="0">
                <a:sym typeface="+mn-ea"/>
              </a:rPr>
              <a:t>Processor  </a:t>
            </a:r>
            <a:r>
              <a:rPr lang="en-US" altLang="en-GB" sz="2400" b="1" dirty="0">
                <a:sym typeface="+mn-ea"/>
              </a:rPr>
              <a:t> </a:t>
            </a:r>
            <a:r>
              <a:rPr lang="en-GB" sz="2400" b="1" dirty="0">
                <a:sym typeface="+mn-ea"/>
              </a:rPr>
              <a:t>: </a:t>
            </a:r>
            <a:r>
              <a:rPr lang="en-US" sz="2400" dirty="0">
                <a:latin typeface="Trebuchet MS" panose="020B0603020202020204" charset="0"/>
                <a:cs typeface="Trebuchet MS" panose="020B0603020202020204" charset="0"/>
                <a:sym typeface="+mn-ea"/>
              </a:rPr>
              <a:t>I5/Intel Processor</a:t>
            </a:r>
            <a:endParaRPr lang="en-US" sz="2400" dirty="0">
              <a:latin typeface="Times New Roman" panose="02020603050405020304" pitchFamily="18" charset="0"/>
              <a:cs typeface="Times New Roman" panose="02020603050405020304" pitchFamily="18" charset="0"/>
              <a:sym typeface="+mn-ea"/>
            </a:endParaRPr>
          </a:p>
          <a:p>
            <a:pPr>
              <a:lnSpc>
                <a:spcPct val="150000"/>
              </a:lnSpc>
            </a:pPr>
            <a:r>
              <a:rPr lang="en-US" sz="2400" b="1" dirty="0">
                <a:latin typeface="Trebuchet MS" panose="020B0603020202020204" charset="0"/>
                <a:cs typeface="Trebuchet MS" panose="020B0603020202020204" charset="0"/>
                <a:sym typeface="+mn-ea"/>
              </a:rPr>
              <a:t>Hard Disk </a:t>
            </a:r>
            <a:r>
              <a:rPr lang="en-US" sz="2400" dirty="0">
                <a:latin typeface="Times New Roman" panose="02020603050405020304" pitchFamily="18" charset="0"/>
                <a:cs typeface="Times New Roman" panose="02020603050405020304" pitchFamily="18" charset="0"/>
                <a:sym typeface="+mn-ea"/>
              </a:rPr>
              <a:t>   </a:t>
            </a:r>
            <a:r>
              <a:rPr lang="en-US" sz="2400" b="1" dirty="0">
                <a:latin typeface="Times New Roman" panose="02020603050405020304" pitchFamily="18" charset="0"/>
                <a:cs typeface="Times New Roman" panose="02020603050405020304" pitchFamily="18" charset="0"/>
                <a:sym typeface="+mn-ea"/>
              </a:rPr>
              <a:t>: </a:t>
            </a:r>
            <a:r>
              <a:rPr lang="en-US" sz="2400" dirty="0">
                <a:latin typeface="Trebuchet MS" panose="020B0603020202020204" charset="0"/>
                <a:cs typeface="Trebuchet MS" panose="020B0603020202020204" charset="0"/>
                <a:sym typeface="+mn-ea"/>
              </a:rPr>
              <a:t>128 GB</a:t>
            </a:r>
            <a:endParaRPr lang="en-US" sz="2400" dirty="0">
              <a:latin typeface="Times New Roman" panose="02020603050405020304" pitchFamily="18" charset="0"/>
              <a:cs typeface="Times New Roman" panose="02020603050405020304" pitchFamily="18" charset="0"/>
            </a:endParaRPr>
          </a:p>
          <a:p>
            <a:r>
              <a:rPr lang="en-GB" sz="2400" b="1" dirty="0">
                <a:solidFill>
                  <a:srgbClr val="FF0000"/>
                </a:solidFill>
              </a:rPr>
              <a:t> </a:t>
            </a:r>
            <a:endParaRPr lang="en-GB" sz="2400" b="1" dirty="0">
              <a:solidFill>
                <a:srgbClr val="FF0000"/>
              </a:solidFill>
            </a:endParaRPr>
          </a:p>
        </p:txBody>
      </p:sp>
      <p:sp>
        <p:nvSpPr>
          <p:cNvPr id="3"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MINIMUM SYSTEM REQUIREMENTS</a:t>
            </a:r>
            <a:endParaRPr lang="en-IN" sz="3200" dirty="0">
              <a:solidFill>
                <a:schemeClr val="bg2">
                  <a:lumMod val="50000"/>
                </a:schemeClr>
              </a:solidFill>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359" y="2857500"/>
            <a:ext cx="8683348" cy="1143000"/>
          </a:xfrm>
        </p:spPr>
        <p:txBody>
          <a:bodyPr/>
          <a:lstStyle/>
          <a:p>
            <a:pPr marL="0" indent="0" algn="ctr">
              <a:buNone/>
            </a:pPr>
            <a:r>
              <a:rPr lang="en-IN" sz="5400" dirty="0">
                <a:solidFill>
                  <a:schemeClr val="tx2">
                    <a:lumMod val="60000"/>
                    <a:lumOff val="40000"/>
                  </a:schemeClr>
                </a:solidFill>
              </a:rPr>
              <a:t>ANALYSIS AND DESIGN</a:t>
            </a:r>
            <a:endParaRPr lang="en-IN" sz="5400" dirty="0">
              <a:solidFill>
                <a:schemeClr val="tx2">
                  <a:lumMod val="60000"/>
                  <a:lumOff val="4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68600" y="104400"/>
            <a:ext cx="11854800" cy="6649200"/>
          </a:xfrm>
        </p:spPr>
        <p:txBody>
          <a:bodyPr>
            <a:normAutofit/>
          </a:bodyPr>
          <a:lstStyle/>
          <a:p>
            <a:pPr marL="45720" indent="0" algn="ctr">
              <a:buNone/>
            </a:pPr>
            <a:r>
              <a:rPr lang="en-IN" sz="3600" dirty="0">
                <a:solidFill>
                  <a:schemeClr val="accent1">
                    <a:lumMod val="75000"/>
                  </a:schemeClr>
                </a:solidFill>
              </a:rPr>
              <a:t>Analysis </a:t>
            </a:r>
            <a:endParaRPr lang="en-IN" sz="3600" dirty="0">
              <a:solidFill>
                <a:schemeClr val="accent1">
                  <a:lumMod val="75000"/>
                </a:schemeClr>
              </a:solidFill>
            </a:endParaRPr>
          </a:p>
          <a:p>
            <a:pPr marL="45720" indent="0" algn="ctr">
              <a:buNone/>
            </a:pPr>
            <a:r>
              <a:rPr lang="en-IN" sz="3100" b="1" dirty="0">
                <a:solidFill>
                  <a:schemeClr val="tx1">
                    <a:lumMod val="65000"/>
                    <a:lumOff val="35000"/>
                  </a:schemeClr>
                </a:solidFill>
                <a:effectLst>
                  <a:outerShdw blurRad="38100" dist="38100" dir="2700000" algn="tl">
                    <a:srgbClr val="000000">
                      <a:alpha val="43137"/>
                    </a:srgbClr>
                  </a:outerShdw>
                </a:effectLst>
              </a:rPr>
              <a:t>System and User Modules</a:t>
            </a:r>
            <a:endParaRPr lang="en-IN" sz="2600" b="1" dirty="0">
              <a:solidFill>
                <a:schemeClr val="tx1">
                  <a:lumMod val="65000"/>
                  <a:lumOff val="35000"/>
                </a:schemeClr>
              </a:solidFill>
              <a:effectLst>
                <a:outerShdw blurRad="38100" dist="38100" dir="2700000" algn="tl">
                  <a:srgbClr val="000000">
                    <a:alpha val="43137"/>
                  </a:srgbClr>
                </a:outerShdw>
              </a:effectLst>
            </a:endParaRPr>
          </a:p>
          <a:p>
            <a:pPr marL="45720" indent="0" algn="just">
              <a:lnSpc>
                <a:spcPct val="17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Data Collection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altLang="en-IN" sz="1720" dirty="0">
                <a:solidFill>
                  <a:schemeClr val="tx1">
                    <a:lumMod val="65000"/>
                    <a:lumOff val="35000"/>
                  </a:schemeClr>
                </a:solidFill>
                <a:latin typeface="Times New Roman" panose="02020603050405020304" pitchFamily="18" charset="0"/>
                <a:cs typeface="Times New Roman" panose="02020603050405020304" pitchFamily="18" charset="0"/>
              </a:rPr>
              <a:t>Sleep Data Acquisition: Collect sleep data from wearable devices and medical records.  </a:t>
            </a:r>
            <a:endParaRPr lang="en-US" altLang="en-IN" sz="172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altLang="en-IN" sz="1725"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IN" sz="1725" dirty="0">
                <a:solidFill>
                  <a:schemeClr val="tx1">
                    <a:lumMod val="65000"/>
                    <a:lumOff val="35000"/>
                  </a:schemeClr>
                </a:solidFill>
                <a:latin typeface="Times New Roman" panose="02020603050405020304" pitchFamily="18" charset="0"/>
                <a:cs typeface="Times New Roman" panose="02020603050405020304" pitchFamily="18" charset="0"/>
              </a:rPr>
              <a:t>Data Annotation: Label sleep data with disorder classifications.</a:t>
            </a:r>
            <a:r>
              <a:rPr lang="en-IN" sz="1725" b="1" dirty="0">
                <a:solidFill>
                  <a:schemeClr val="tx1">
                    <a:lumMod val="65000"/>
                    <a:lumOff val="35000"/>
                  </a:schemeClr>
                </a:solidFill>
                <a:latin typeface="Times New Roman" panose="02020603050405020304" pitchFamily="18" charset="0"/>
                <a:cs typeface="Times New Roman" panose="02020603050405020304" pitchFamily="18" charset="0"/>
              </a:rPr>
              <a:t> </a:t>
            </a:r>
            <a:endParaRPr lang="en-IN" sz="1725" b="1"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7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Preprocessing Module</a:t>
            </a:r>
            <a:r>
              <a:rPr lang="en-US" altLang="en-IN" sz="1900" b="1"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Noise Removal: Filter out unwanted noise from sleep signals.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Feature Extraction: Identify key sleep features like breathing patterns and movement.</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7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Model Training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Algorithm Selection: Use machine learning models like SVM, CNN, or LSTM for classification.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Hyperparameter Optimization: Adjust model settings to improve accuracy.</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68600" y="104400"/>
            <a:ext cx="11854800" cy="6649200"/>
          </a:xfrm>
        </p:spPr>
        <p:txBody>
          <a:bodyPr>
            <a:normAutofit/>
          </a:bodyPr>
          <a:lstStyle/>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Real-Time Image Capture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IN" sz="1900" dirty="0">
                <a:solidFill>
                  <a:schemeClr val="tx1">
                    <a:lumMod val="65000"/>
                    <a:lumOff val="35000"/>
                  </a:schemeClr>
                </a:solidFill>
                <a:latin typeface="Times New Roman" panose="02020603050405020304" pitchFamily="18" charset="0"/>
                <a:cs typeface="Times New Roman" panose="02020603050405020304" pitchFamily="18" charset="0"/>
              </a:rPr>
              <a:t>Wearable Device Integration:</a:t>
            </a:r>
            <a:r>
              <a:rPr lang="en-US" altLang="en-IN" sz="19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IN" sz="1900" dirty="0">
                <a:solidFill>
                  <a:schemeClr val="tx1">
                    <a:lumMod val="65000"/>
                    <a:lumOff val="35000"/>
                  </a:schemeClr>
                </a:solidFill>
                <a:latin typeface="Times New Roman" panose="02020603050405020304" pitchFamily="18" charset="0"/>
                <a:cs typeface="Times New Roman" panose="02020603050405020304" pitchFamily="18" charset="0"/>
              </a:rPr>
              <a:t>Connect with smartwatches or sleep trackers for live data collection.  </a:t>
            </a:r>
            <a:endParaRPr lang="en-IN"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IN" sz="1900" dirty="0">
                <a:solidFill>
                  <a:schemeClr val="tx1">
                    <a:lumMod val="65000"/>
                    <a:lumOff val="35000"/>
                  </a:schemeClr>
                </a:solidFill>
                <a:latin typeface="Times New Roman" panose="02020603050405020304" pitchFamily="18" charset="0"/>
                <a:cs typeface="Times New Roman" panose="02020603050405020304" pitchFamily="18" charset="0"/>
              </a:rPr>
              <a:t>Sleep Stage Detection: Identify sleep stages such as light sleep, deep sleep, and REM.</a:t>
            </a:r>
            <a:endParaRPr lang="en-IN"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Output Visualization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i="1" dirty="0">
                <a:solidFill>
                  <a:schemeClr val="tx1">
                    <a:lumMod val="65000"/>
                    <a:lumOff val="35000"/>
                  </a:schemeClr>
                </a:solidFill>
                <a:latin typeface="Times New Roman" panose="02020603050405020304" pitchFamily="18" charset="0"/>
                <a:cs typeface="Times New Roman" panose="02020603050405020304" pitchFamily="18" charset="0"/>
              </a:rPr>
              <a:t>User Dashboard: Display sleep reports and detected disorders in a simple interface.  </a:t>
            </a:r>
            <a:endParaRPr lang="en-US" sz="1900" i="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i="1" dirty="0">
                <a:solidFill>
                  <a:schemeClr val="tx1">
                    <a:lumMod val="65000"/>
                    <a:lumOff val="35000"/>
                  </a:schemeClr>
                </a:solidFill>
                <a:latin typeface="Times New Roman" panose="02020603050405020304" pitchFamily="18" charset="0"/>
                <a:cs typeface="Times New Roman" panose="02020603050405020304" pitchFamily="18" charset="0"/>
              </a:rPr>
              <a:t>Graphical Insights: Show sleep trends using charts and graphs.</a:t>
            </a:r>
            <a:r>
              <a:rPr lang="en-US" sz="1600" i="1" dirty="0">
                <a:solidFill>
                  <a:schemeClr val="tx1">
                    <a:lumMod val="65000"/>
                    <a:lumOff val="35000"/>
                  </a:schemeClr>
                </a:solidFill>
                <a:latin typeface="Times New Roman" panose="02020603050405020304" pitchFamily="18" charset="0"/>
                <a:cs typeface="Times New Roman" panose="02020603050405020304" pitchFamily="18" charset="0"/>
              </a:rPr>
              <a:t> </a:t>
            </a:r>
            <a:endParaRPr lang="en-US" sz="1600" i="1"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User Engagement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Personalized Recommendations: Suggest lifestyle changes based on detected sleep issues.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Alerts &amp; Notifications: Notify users of potential sleep disorders.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Customization and Preferences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Sleep Goal Settings: Let users set and track personal sleep goals.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Integration with Health Apps: Sync with platforms like Google Fit or Apple Health.</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365760" lvl="1" indent="0">
              <a:lnSpc>
                <a:spcPct val="150000"/>
              </a:lnSpc>
              <a:buNone/>
            </a:pP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748280" y="4208145"/>
            <a:ext cx="7056120" cy="894080"/>
          </a:xfrm>
        </p:spPr>
        <p:txBody>
          <a:bodyPr/>
          <a:p>
            <a:endParaRPr lang="en-US"/>
          </a:p>
        </p:txBody>
      </p:sp>
      <p:sp>
        <p:nvSpPr>
          <p:cNvPr id="2" name="TextBox 1"/>
          <p:cNvSpPr txBox="1"/>
          <p:nvPr/>
        </p:nvSpPr>
        <p:spPr>
          <a:xfrm>
            <a:off x="4159898" y="251927"/>
            <a:ext cx="3872204" cy="523220"/>
          </a:xfrm>
          <a:prstGeom prst="rect">
            <a:avLst/>
          </a:prstGeom>
          <a:noFill/>
        </p:spPr>
        <p:txBody>
          <a:bodyPr wrap="square" rtlCol="0">
            <a:spAutoFit/>
          </a:bodyPr>
          <a:lstStyle/>
          <a:p>
            <a:pPr algn="ctr"/>
            <a:r>
              <a:rPr lang="en-US" sz="2800" b="1" dirty="0">
                <a:solidFill>
                  <a:schemeClr val="bg2">
                    <a:lumMod val="50000"/>
                  </a:schemeClr>
                </a:solidFill>
                <a:effectLst>
                  <a:outerShdw blurRad="38100" dist="38100" dir="2700000" algn="tl">
                    <a:srgbClr val="000000">
                      <a:alpha val="43137"/>
                    </a:srgbClr>
                  </a:outerShdw>
                </a:effectLst>
              </a:rPr>
              <a:t>DESIGN</a:t>
            </a:r>
            <a:endParaRPr lang="en-IN" sz="2800"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963174" y="812767"/>
            <a:ext cx="4481029" cy="369332"/>
          </a:xfrm>
          <a:prstGeom prst="rect">
            <a:avLst/>
          </a:prstGeom>
          <a:noFill/>
        </p:spPr>
        <p:txBody>
          <a:bodyPr wrap="square" rtlCol="0">
            <a:spAutoFit/>
          </a:bodyPr>
          <a:lstStyle/>
          <a:p>
            <a:pPr algn="ctr"/>
            <a:r>
              <a:rPr lang="en-US" dirty="0"/>
              <a:t> Data Flow Diagram </a:t>
            </a:r>
            <a:endParaRPr lang="en-IN" dirty="0"/>
          </a:p>
        </p:txBody>
      </p:sp>
      <p:pic>
        <p:nvPicPr>
          <p:cNvPr id="9" name="Content Placeholder 8" descr="Screenshot (172)"/>
          <p:cNvPicPr>
            <a:picLocks noChangeAspect="1"/>
          </p:cNvPicPr>
          <p:nvPr>
            <p:ph sz="quarter" idx="13"/>
          </p:nvPr>
        </p:nvPicPr>
        <p:blipFill>
          <a:blip r:embed="rId9"/>
          <a:srcRect l="30009" t="38688" r="18659" b="24353"/>
          <a:stretch>
            <a:fillRect/>
          </a:stretch>
        </p:blipFill>
        <p:spPr>
          <a:xfrm>
            <a:off x="2748280" y="1460500"/>
            <a:ext cx="6969760" cy="35839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01035" y="4007485"/>
            <a:ext cx="6610350" cy="1084580"/>
          </a:xfrm>
        </p:spPr>
        <p:txBody>
          <a:bodyPr/>
          <a:p>
            <a:pPr marL="0" indent="0">
              <a:buNone/>
            </a:pPr>
            <a:endParaRPr lang="en-US"/>
          </a:p>
        </p:txBody>
      </p:sp>
      <p:sp>
        <p:nvSpPr>
          <p:cNvPr id="2" name="TextBox 1"/>
          <p:cNvSpPr txBox="1"/>
          <p:nvPr/>
        </p:nvSpPr>
        <p:spPr>
          <a:xfrm>
            <a:off x="4159898" y="251927"/>
            <a:ext cx="3872204" cy="523220"/>
          </a:xfrm>
          <a:prstGeom prst="rect">
            <a:avLst/>
          </a:prstGeom>
          <a:noFill/>
        </p:spPr>
        <p:txBody>
          <a:bodyPr wrap="square" rtlCol="0">
            <a:spAutoFit/>
          </a:bodyPr>
          <a:lstStyle/>
          <a:p>
            <a:pPr algn="ctr"/>
            <a:r>
              <a:rPr lang="en-US" sz="2800" b="1" dirty="0">
                <a:solidFill>
                  <a:schemeClr val="bg2">
                    <a:lumMod val="50000"/>
                  </a:schemeClr>
                </a:solidFill>
                <a:effectLst>
                  <a:outerShdw blurRad="38100" dist="38100" dir="2700000" algn="tl">
                    <a:srgbClr val="000000">
                      <a:alpha val="43137"/>
                    </a:srgbClr>
                  </a:outerShdw>
                </a:effectLst>
              </a:rPr>
              <a:t>UML DIAGRAMS</a:t>
            </a:r>
            <a:endParaRPr lang="en-IN" sz="2800"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771545" y="819374"/>
            <a:ext cx="4481029" cy="369332"/>
          </a:xfrm>
          <a:prstGeom prst="rect">
            <a:avLst/>
          </a:prstGeom>
          <a:noFill/>
        </p:spPr>
        <p:txBody>
          <a:bodyPr wrap="square" rtlCol="0">
            <a:spAutoFit/>
          </a:bodyPr>
          <a:lstStyle/>
          <a:p>
            <a:pPr algn="ctr"/>
            <a:r>
              <a:rPr lang="en-US" dirty="0"/>
              <a:t>USE CASE DIAGRAM</a:t>
            </a:r>
            <a:endParaRPr lang="en-IN" dirty="0"/>
          </a:p>
        </p:txBody>
      </p:sp>
      <p:pic>
        <p:nvPicPr>
          <p:cNvPr id="6" name="Content Placeholder 5" descr="Screenshot (191)"/>
          <p:cNvPicPr>
            <a:picLocks noChangeAspect="1"/>
          </p:cNvPicPr>
          <p:nvPr>
            <p:ph sz="quarter" idx="13"/>
          </p:nvPr>
        </p:nvPicPr>
        <p:blipFill>
          <a:blip r:embed="rId9"/>
          <a:stretch>
            <a:fillRect/>
          </a:stretch>
        </p:blipFill>
        <p:spPr>
          <a:xfrm>
            <a:off x="2997200" y="1351915"/>
            <a:ext cx="6814820" cy="38366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37560" y="4371975"/>
            <a:ext cx="5050790" cy="1143000"/>
          </a:xfrm>
        </p:spPr>
        <p:txBody>
          <a:bodyPr/>
          <a:p>
            <a:endParaRPr lang="en-US"/>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771544" y="420077"/>
            <a:ext cx="4481029" cy="523220"/>
          </a:xfrm>
          <a:prstGeom prst="rect">
            <a:avLst/>
          </a:prstGeom>
          <a:noFill/>
        </p:spPr>
        <p:txBody>
          <a:bodyPr wrap="square" rtlCol="0">
            <a:spAutoFit/>
          </a:bodyPr>
          <a:lstStyle/>
          <a:p>
            <a:pPr algn="ctr"/>
            <a:r>
              <a:rPr lang="en-US" sz="2800" dirty="0"/>
              <a:t>SEQUENCE DIAGRAM</a:t>
            </a:r>
            <a:endParaRPr lang="en-IN" sz="2800" dirty="0"/>
          </a:p>
        </p:txBody>
      </p:sp>
      <p:pic>
        <p:nvPicPr>
          <p:cNvPr id="5" name="Content Placeholder 4"/>
          <p:cNvPicPr>
            <a:picLocks noChangeAspect="1"/>
          </p:cNvPicPr>
          <p:nvPr>
            <p:ph sz="quarter" idx="13"/>
          </p:nvPr>
        </p:nvPicPr>
        <p:blipFill>
          <a:blip r:embed="rId9"/>
          <a:stretch>
            <a:fillRect/>
          </a:stretch>
        </p:blipFill>
        <p:spPr>
          <a:xfrm>
            <a:off x="3337560" y="1169035"/>
            <a:ext cx="5050790" cy="48456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08120" y="3044825"/>
            <a:ext cx="5136515" cy="1085850"/>
          </a:xfrm>
        </p:spPr>
        <p:txBody>
          <a:bodyPr/>
          <a:p>
            <a:endParaRPr lang="en-US"/>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p:cNvSpPr txBox="1"/>
          <p:nvPr/>
        </p:nvSpPr>
        <p:spPr>
          <a:xfrm>
            <a:off x="3047223" y="325639"/>
            <a:ext cx="6097554" cy="523220"/>
          </a:xfrm>
          <a:prstGeom prst="rect">
            <a:avLst/>
          </a:prstGeom>
          <a:noFill/>
        </p:spPr>
        <p:txBody>
          <a:bodyPr wrap="square">
            <a:spAutoFit/>
          </a:bodyPr>
          <a:lstStyle/>
          <a:p>
            <a:pPr algn="ctr"/>
            <a:r>
              <a:rPr lang="en-IN" sz="2800" dirty="0"/>
              <a:t>CLASS DIAGRAM</a:t>
            </a:r>
            <a:endParaRPr lang="en-IN" sz="2800" dirty="0"/>
          </a:p>
        </p:txBody>
      </p:sp>
      <p:pic>
        <p:nvPicPr>
          <p:cNvPr id="3" name="Content Placeholder 2" descr="Screenshot (192)"/>
          <p:cNvPicPr>
            <a:picLocks noChangeAspect="1"/>
          </p:cNvPicPr>
          <p:nvPr>
            <p:ph sz="quarter" idx="13"/>
          </p:nvPr>
        </p:nvPicPr>
        <p:blipFill>
          <a:blip r:embed="rId9"/>
          <a:stretch>
            <a:fillRect/>
          </a:stretch>
        </p:blipFill>
        <p:spPr>
          <a:xfrm>
            <a:off x="2509520" y="1371600"/>
            <a:ext cx="6696710" cy="3474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417192"/>
            <a:ext cx="6097554" cy="523220"/>
          </a:xfrm>
          <a:prstGeom prst="rect">
            <a:avLst/>
          </a:prstGeom>
          <a:noFill/>
        </p:spPr>
        <p:txBody>
          <a:bodyPr wrap="square">
            <a:spAutoFit/>
          </a:bodyPr>
          <a:lstStyle/>
          <a:p>
            <a:pPr marL="0" algn="ctr" rtl="0" eaLnBrk="1" latinLnBrk="0" hangingPunct="1">
              <a:spcBef>
                <a:spcPts val="0"/>
              </a:spcBef>
              <a:spcAft>
                <a:spcPts val="0"/>
              </a:spcAft>
            </a:pPr>
            <a:r>
              <a:rPr lang="en-IN" sz="2800" kern="1200" dirty="0">
                <a:solidFill>
                  <a:srgbClr val="000000"/>
                </a:solidFill>
                <a:effectLst/>
                <a:latin typeface="Trebuchet MS" panose="020B0603020202020204" charset="0"/>
                <a:ea typeface="+mn-ea"/>
                <a:cs typeface="+mn-cs"/>
              </a:rPr>
              <a:t>COLLABORATION DIAGRAM</a:t>
            </a:r>
            <a:endParaRPr lang="en-IN" sz="2800" dirty="0">
              <a:effectLst/>
            </a:endParaRPr>
          </a:p>
        </p:txBody>
      </p:sp>
      <p:pic>
        <p:nvPicPr>
          <p:cNvPr id="2" name="Picture 1" descr="Screenshot (189)"/>
          <p:cNvPicPr>
            <a:picLocks noChangeAspect="1"/>
          </p:cNvPicPr>
          <p:nvPr/>
        </p:nvPicPr>
        <p:blipFill>
          <a:blip r:embed="rId1"/>
          <a:stretch>
            <a:fillRect/>
          </a:stretch>
        </p:blipFill>
        <p:spPr>
          <a:xfrm>
            <a:off x="1085850" y="1552575"/>
            <a:ext cx="9981565" cy="37528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333183"/>
            <a:ext cx="6097554" cy="523220"/>
          </a:xfrm>
          <a:prstGeom prst="rect">
            <a:avLst/>
          </a:prstGeom>
          <a:noFill/>
        </p:spPr>
        <p:txBody>
          <a:bodyPr wrap="square">
            <a:spAutoFit/>
          </a:bodyPr>
          <a:lstStyle/>
          <a:p>
            <a:pPr algn="ctr"/>
            <a:r>
              <a:rPr lang="en-IN" sz="2800" dirty="0"/>
              <a:t>DEPLOYMENT DIAGRAM</a:t>
            </a:r>
            <a:endParaRPr lang="en-IN" sz="2800" dirty="0"/>
          </a:p>
        </p:txBody>
      </p:sp>
      <p:sp>
        <p:nvSpPr>
          <p:cNvPr id="2" name="Text Box 1"/>
          <p:cNvSpPr txBox="1"/>
          <p:nvPr/>
        </p:nvSpPr>
        <p:spPr>
          <a:xfrm>
            <a:off x="6004560" y="1936750"/>
            <a:ext cx="4064000" cy="368300"/>
          </a:xfrm>
          <a:prstGeom prst="rect">
            <a:avLst/>
          </a:prstGeom>
          <a:noFill/>
        </p:spPr>
        <p:txBody>
          <a:bodyPr wrap="square" rtlCol="0">
            <a:spAutoFit/>
          </a:bodyPr>
          <a:p>
            <a:endParaRPr lang="en-US"/>
          </a:p>
        </p:txBody>
      </p:sp>
      <p:pic>
        <p:nvPicPr>
          <p:cNvPr id="10" name="Picture 9" descr="Screenshot (167)"/>
          <p:cNvPicPr>
            <a:picLocks noChangeAspect="1"/>
          </p:cNvPicPr>
          <p:nvPr/>
        </p:nvPicPr>
        <p:blipFill>
          <a:blip r:embed="rId1"/>
          <a:srcRect l="41326" t="55454" r="31891" b="22935"/>
          <a:stretch>
            <a:fillRect/>
          </a:stretch>
        </p:blipFill>
        <p:spPr>
          <a:xfrm>
            <a:off x="4243705" y="1715770"/>
            <a:ext cx="4152265" cy="19240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7223" y="381192"/>
            <a:ext cx="6097554" cy="523220"/>
          </a:xfrm>
          <a:prstGeom prst="rect">
            <a:avLst/>
          </a:prstGeom>
          <a:noFill/>
        </p:spPr>
        <p:txBody>
          <a:bodyPr wrap="square">
            <a:spAutoFit/>
          </a:bodyPr>
          <a:lstStyle/>
          <a:p>
            <a:pPr algn="ctr"/>
            <a:r>
              <a:rPr lang="en-IN" sz="2800" dirty="0"/>
              <a:t>ACTIVITY DIAGRAM</a:t>
            </a:r>
            <a:endParaRPr lang="en-IN" sz="2800" dirty="0"/>
          </a:p>
        </p:txBody>
      </p:sp>
      <p:pic>
        <p:nvPicPr>
          <p:cNvPr id="2" name="Picture 1" descr="Screenshot (190)"/>
          <p:cNvPicPr>
            <a:picLocks noChangeAspect="1"/>
          </p:cNvPicPr>
          <p:nvPr/>
        </p:nvPicPr>
        <p:blipFill>
          <a:blip r:embed="rId1"/>
          <a:srcRect l="14593" r="19771"/>
          <a:stretch>
            <a:fillRect/>
          </a:stretch>
        </p:blipFill>
        <p:spPr>
          <a:xfrm>
            <a:off x="3272790" y="1292860"/>
            <a:ext cx="5215255" cy="51981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09600" y="731519"/>
            <a:ext cx="11152094" cy="5641289"/>
          </a:xfrm>
        </p:spPr>
        <p:txBody>
          <a:bodyPr>
            <a:noAutofit/>
          </a:bodyPr>
          <a:lstStyle/>
          <a:p>
            <a:pPr marL="45720" indent="0" algn="just">
              <a:lnSpc>
                <a:spcPct val="150000"/>
              </a:lnSpc>
              <a:buFont typeface="Wingdings" panose="05000000000000000000" pitchFamily="2" charset="2"/>
              <a:buNone/>
            </a:pPr>
            <a:r>
              <a:rPr lang="en-IN" sz="1900" dirty="0">
                <a:latin typeface="Times New Roman" panose="02020603050405020304" pitchFamily="18" charset="0"/>
                <a:cs typeface="Times New Roman" panose="02020603050405020304" pitchFamily="18" charset="0"/>
              </a:rPr>
              <a:t>In this project, an optimized sleep disorder classification model was developed by leveraging machine learning algorithms (MLAs) with stacking and voting classifiers. The proposed approach utilized a combination of MLAs to explore optimal hyperparameter values and achieve improved results. Our study analyzed the performance of various MLAs on a real-world sleep disorder dataset and demonstrated their ability to learn from high-dimensional sleep data without relying on expert-defined features. The proposed optimized model achieved a high accuracy of [insert accuracy percentage], with precision, recall, and F1-score values of [insert respective percentages]. Despite limitations in data quantity, this study addressed challenges in implementing MLAs for sleep disorder classification. Future work will focus on exploring unsupervised learning techniques, assessing new models, and comparing their performance against existing state-of-the-art models to further improve sleep disorder classification accuracy.</a:t>
            </a:r>
            <a:endParaRPr lang="en-IN" sz="1900" dirty="0">
              <a:latin typeface="Times New Roman" panose="02020603050405020304" pitchFamily="18" charset="0"/>
              <a:cs typeface="Times New Roman" panose="02020603050405020304" pitchFamily="18" charset="0"/>
            </a:endParaRPr>
          </a:p>
        </p:txBody>
      </p:sp>
      <p:sp>
        <p:nvSpPr>
          <p:cNvPr id="4" name="Title 1"/>
          <p:cNvSpPr txBox="1"/>
          <p:nvPr/>
        </p:nvSpPr>
        <p:spPr>
          <a:xfrm>
            <a:off x="318247" y="113933"/>
            <a:ext cx="11555505" cy="1143000"/>
          </a:xfrm>
          <a:prstGeom prst="rect">
            <a:avLst/>
          </a:prstGeom>
          <a:effectLst/>
        </p:spPr>
        <p:txBody>
          <a:bodyPr vert="horz" lIns="91440" tIns="45720" rIns="91440" bIns="45720" rtlCol="0" anchor="t" anchorCtr="0">
            <a:no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anose="02040502050405020303" pitchFamily="18" charset="0"/>
              <a:buNone/>
            </a:pPr>
            <a:r>
              <a:rPr lang="en-IN" sz="3600" dirty="0"/>
              <a:t>Conclusion</a:t>
            </a:r>
            <a:endParaRPr lang="en-IN"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280" y="837486"/>
            <a:ext cx="12060000" cy="5590540"/>
          </a:xfrm>
          <a:prstGeom prst="rect">
            <a:avLst/>
          </a:prstGeom>
          <a:noFill/>
          <a:ln w="3175">
            <a:solidFill>
              <a:schemeClr val="accent1"/>
            </a:solidFill>
          </a:ln>
        </p:spPr>
        <p:txBody>
          <a:bodyPr wrap="square" numCol="1" rtlCol="0">
            <a:spAutoFit/>
          </a:bodyPr>
          <a:lstStyle/>
          <a:p>
            <a:pPr algn="just">
              <a:lnSpc>
                <a:spcPct val="150000"/>
              </a:lnSpc>
              <a:spcAft>
                <a:spcPts val="800"/>
              </a:spcAft>
            </a:pP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1.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A</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LICKOVIC, E &amp;</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S</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UBASI</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A. (2018)</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Ensemble SVM Method for Automatic Sleep Stage Classification. IEEE Transactions on Instrumentation and Measurement.</a:t>
            </a:r>
            <a:endParaRPr lang="en-IN" b="1"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2.  </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T</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RAN</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C., W</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IJESYRIYA</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Y.,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T</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HURAISINGHAM</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R., C</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RAIG</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A., &amp; N</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GUYEN</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H. (2019)</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Deep Learning for Classification of Sleep Stages. Advances in Biomedical Signal Processing.</a:t>
            </a:r>
            <a:endParaRPr lang="en-IN" dirty="0">
              <a:effectLst/>
              <a:latin typeface="Times New Roman" panose="02020603050405020304" pitchFamily="18" charset="0"/>
              <a:ea typeface="Calibri" panose="020F0502020204030204" charset="0"/>
              <a:cs typeface="Times New Roman" panose="02020603050405020304" pitchFamily="18" charset="0"/>
            </a:endParaRPr>
          </a:p>
          <a:p>
            <a:pPr algn="just">
              <a:lnSpc>
                <a:spcPct val="150000"/>
              </a:lnSpc>
              <a:spcAft>
                <a:spcPts val="800"/>
              </a:spcAft>
            </a:pP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3</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  </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S</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UN</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M. J., W</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Z. F., &amp; L</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X. B. (2020)</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Sleep </a:t>
            </a:r>
            <a:r>
              <a:rPr lang="en-IN" dirty="0" err="1">
                <a:effectLst/>
                <a:latin typeface="Times New Roman" panose="02020603050405020304" pitchFamily="18" charset="0"/>
                <a:ea typeface="Calibri" panose="020F0502020204030204" charset="0"/>
                <a:cs typeface="Times New Roman" panose="02020603050405020304" pitchFamily="18" charset="0"/>
                <a:sym typeface="+mn-ea"/>
              </a:rPr>
              <a:t>Apnea</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Detection Based on Time and Frequency Domain Analysis of ECG and SpO2 Signals. Journal of Medical Systems.</a:t>
            </a:r>
            <a:endParaRPr lang="en-IN"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4.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V</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UPPALAPATHI</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A. K.,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G</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UDDETI</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V., &amp; P</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RASAD</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P. (2021</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Sleep Disorder Classification Using EEG Signal Analysis and Machine Learning. IEEE Access, 9, 54321-54330.</a:t>
            </a:r>
            <a:endParaRPr lang="en-IN"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5.  </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R</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ADHA</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T., K</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UMAR</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V. S., &amp; P</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RADEEP</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S. (20</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23</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Classification of Sleep Disorders Using Machine Learning Algorithms. International Journal of Scientific Research in Computer Science, Engineering and Information Technology, 4(3), 2456-3307.</a:t>
            </a:r>
            <a:endParaRPr lang="en-IN" dirty="0">
              <a:effectLst/>
              <a:latin typeface="Times New Roman" panose="02020603050405020304" pitchFamily="18" charset="0"/>
              <a:ea typeface="Calibri" panose="020F0502020204030204" charset="0"/>
              <a:cs typeface="Times New Roman" panose="02020603050405020304" pitchFamily="18" charset="0"/>
            </a:endParaRPr>
          </a:p>
          <a:p>
            <a:pPr marL="342900" indent="-342900" algn="just">
              <a:lnSpc>
                <a:spcPct val="150000"/>
              </a:lnSpc>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3"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REFERENCES</a:t>
            </a:r>
            <a:endParaRPr lang="en-IN" sz="3200" dirty="0">
              <a:solidFill>
                <a:schemeClr val="bg2">
                  <a:lumMod val="50000"/>
                </a:schemeClr>
              </a:solidFill>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827998"/>
            <a:ext cx="12192000"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2" name="TextBox 1"/>
          <p:cNvSpPr txBox="1"/>
          <p:nvPr/>
        </p:nvSpPr>
        <p:spPr>
          <a:xfrm>
            <a:off x="81280" y="68325"/>
            <a:ext cx="12029440" cy="6721350"/>
          </a:xfrm>
          <a:prstGeom prst="rect">
            <a:avLst/>
          </a:prstGeom>
          <a:noFill/>
          <a:ln w="12700">
            <a:solidFill>
              <a:schemeClr val="accent1"/>
            </a:solidFill>
          </a:ln>
        </p:spPr>
        <p:txBody>
          <a:bodyPr wrap="square" rtlCol="0">
            <a:spAutoFit/>
          </a:bodyPr>
          <a:lstStyle/>
          <a:p>
            <a:endParaRPr lang="en-IN" dirty="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57139" y="2707386"/>
            <a:ext cx="12192000"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5400" b="1" cap="none" spc="0" dirty="0">
                <a:ln w="11430"/>
                <a:solidFill>
                  <a:schemeClr val="bg2">
                    <a:lumMod val="50000"/>
                  </a:schemeClr>
                </a:solidFill>
                <a:effectLst>
                  <a:outerShdw blurRad="80000" dist="40000" dir="5040000" algn="tl">
                    <a:srgbClr val="000000">
                      <a:alpha val="30000"/>
                    </a:srgbClr>
                  </a:outerShdw>
                </a:effectLst>
              </a:rPr>
              <a:t>														</a:t>
            </a:r>
            <a:r>
              <a:rPr lang="en-US" sz="5400" b="1" dirty="0">
                <a:ln w="11430"/>
                <a:solidFill>
                  <a:schemeClr val="bg2">
                    <a:lumMod val="50000"/>
                  </a:schemeClr>
                </a:solidFill>
                <a:effectLst>
                  <a:outerShdw blurRad="80000" dist="40000" dir="5040000" algn="tl">
                    <a:srgbClr val="000000">
                      <a:alpha val="30000"/>
                    </a:srgbClr>
                  </a:outerShdw>
                </a:effectLst>
              </a:rPr>
              <a:t> </a:t>
            </a:r>
            <a:r>
              <a:rPr lang="en-US" sz="5400" b="1" cap="none" spc="0" dirty="0">
                <a:ln w="11430"/>
                <a:solidFill>
                  <a:schemeClr val="bg2">
                    <a:lumMod val="50000"/>
                  </a:schemeClr>
                </a:solidFill>
                <a:effectLst>
                  <a:outerShdw blurRad="80000" dist="40000" dir="5040000" algn="tl">
                    <a:srgbClr val="000000">
                      <a:alpha val="30000"/>
                    </a:srgbClr>
                  </a:outerShdw>
                </a:effectLst>
              </a:rPr>
              <a:t>Thanking You</a:t>
            </a:r>
            <a:endParaRPr lang="en-US" sz="5400" b="1" cap="none" spc="0" dirty="0">
              <a:ln w="11430"/>
              <a:solidFill>
                <a:schemeClr val="bg2">
                  <a:lumMod val="50000"/>
                </a:schemeClr>
              </a:solidFill>
              <a:effectLst>
                <a:outerShdw blurRad="80000" dist="40000" dir="5040000" algn="tl">
                  <a:srgbClr val="000000">
                    <a:alpha val="30000"/>
                  </a:srgbClr>
                </a:outerShdw>
              </a:effectLst>
            </a:endParaRPr>
          </a:p>
        </p:txBody>
      </p:sp>
      <p:sp>
        <p:nvSpPr>
          <p:cNvPr id="2" name="TextBox 1"/>
          <p:cNvSpPr txBox="1"/>
          <p:nvPr/>
        </p:nvSpPr>
        <p:spPr>
          <a:xfrm>
            <a:off x="355002" y="403422"/>
            <a:ext cx="11381591" cy="6051166"/>
          </a:xfrm>
          <a:prstGeom prst="rect">
            <a:avLst/>
          </a:prstGeom>
          <a:noFill/>
          <a:ln w="12700">
            <a:solidFill>
              <a:schemeClr val="accent1"/>
            </a:solidFill>
          </a:ln>
        </p:spPr>
        <p:txBody>
          <a:bodyPr wrap="square" rtlCol="0">
            <a:spAutoFit/>
          </a:bodyPr>
          <a:lstStyle/>
          <a:p>
            <a:endParaRPr lang="en-IN" dirty="0"/>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0</TotalTime>
  <Words>9551</Words>
  <Application>WPS Presentation</Application>
  <PresentationFormat>Widescreen</PresentationFormat>
  <Paragraphs>235</Paragraphs>
  <Slides>22</Slides>
  <Notes>0</Notes>
  <HiddenSlides>0</HiddenSlides>
  <MMClips>0</MMClips>
  <ScaleCrop>false</ScaleCrop>
  <HeadingPairs>
    <vt:vector size="6" baseType="variant">
      <vt:variant>
        <vt:lpstr>已用的字体</vt:lpstr>
      </vt:variant>
      <vt:variant>
        <vt:i4>19</vt:i4>
      </vt:variant>
      <vt:variant>
        <vt:lpstr>主题</vt:lpstr>
      </vt:variant>
      <vt:variant>
        <vt:i4>5</vt:i4>
      </vt:variant>
      <vt:variant>
        <vt:lpstr>幻灯片标题</vt:lpstr>
      </vt:variant>
      <vt:variant>
        <vt:i4>22</vt:i4>
      </vt:variant>
    </vt:vector>
  </HeadingPairs>
  <TitlesOfParts>
    <vt:vector size="46" baseType="lpstr">
      <vt:lpstr>Arial</vt:lpstr>
      <vt:lpstr>SimSun</vt:lpstr>
      <vt:lpstr>Wingdings</vt:lpstr>
      <vt:lpstr>Wingdings</vt:lpstr>
      <vt:lpstr>Wingdings 2</vt:lpstr>
      <vt:lpstr>Wingdings 3</vt:lpstr>
      <vt:lpstr>Symbol</vt:lpstr>
      <vt:lpstr>Georgia</vt:lpstr>
      <vt:lpstr>Algerian</vt:lpstr>
      <vt:lpstr>Tahoma</vt:lpstr>
      <vt:lpstr>Times New Roman</vt:lpstr>
      <vt:lpstr>Trebuchet MS</vt:lpstr>
      <vt:lpstr>Microsoft YaHei</vt:lpstr>
      <vt:lpstr>Arial Unicode MS</vt:lpstr>
      <vt:lpstr>Calibri</vt:lpstr>
      <vt:lpstr>Corbel</vt:lpstr>
      <vt:lpstr>Consolas</vt:lpstr>
      <vt:lpstr>Arial Narrow</vt:lpstr>
      <vt:lpstr>Candara</vt:lpstr>
      <vt:lpstr>Metro</vt:lpstr>
      <vt:lpstr>Horizon</vt:lpstr>
      <vt:lpstr>Civic</vt:lpstr>
      <vt:lpstr>Waveform</vt:lpstr>
      <vt:lpstr>Slipstream</vt:lpstr>
      <vt:lpstr> ANNAMACHARYA INSTITUTE OF TECHNOLOGY AND SCIENCES::TIRUPATHI (AUTONOMOUS)  DEPARTMENT OF ARTIFICIAL INTELLIGENCE (AIDS &amp; AIML) A.Y.: 2024-2025  FIRST REVIEW [Academic year: 2024-25  *  Batch: 2021-25] </vt:lpstr>
      <vt:lpstr>	PROJECT TITLE</vt:lpstr>
      <vt:lpstr> ABSTRACT</vt:lpstr>
      <vt:lpstr>PowerPoint 演示文稿</vt:lpstr>
      <vt:lpstr> RELATED WORKS (EXISTING)</vt:lpstr>
      <vt:lpstr> RELATED WORKS (EXISTING)   Continue… </vt:lpstr>
      <vt:lpstr>PowerPoint 演示文稿</vt:lpstr>
      <vt:lpstr>PowerPoint 演示文稿</vt:lpstr>
      <vt:lpstr>ANALYSIS AND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dell</cp:lastModifiedBy>
  <cp:revision>154</cp:revision>
  <dcterms:created xsi:type="dcterms:W3CDTF">2021-12-20T13:54:00Z</dcterms:created>
  <dcterms:modified xsi:type="dcterms:W3CDTF">2025-02-14T01:39:59Z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DBF2282F71AC458493B362AA82ECABDA_13</vt:lpwstr>
  </property>
  <property fmtid="{D5CDD505-2E9C-101B-9397-08002B2CF9AE}" pid="3" name="KSOProductBuildVer">
    <vt:lpwstr>1033-12.2.0.13472</vt:lpwstr>
  </property>
</Properties>
</file>