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 id="2147483672" r:id="rId4"/>
    <p:sldMasterId id="2147483684" r:id="rId5"/>
    <p:sldMasterId id="2147483696" r:id="rId6"/>
  </p:sldMasterIdLst>
  <p:sldIdLst>
    <p:sldId id="256" r:id="rId7"/>
    <p:sldId id="258" r:id="rId8"/>
    <p:sldId id="265" r:id="rId9"/>
    <p:sldId id="268" r:id="rId10"/>
    <p:sldId id="261" r:id="rId11"/>
    <p:sldId id="267" r:id="rId12"/>
    <p:sldId id="262" r:id="rId13"/>
    <p:sldId id="264" r:id="rId14"/>
    <p:sldId id="266" r:id="rId15"/>
    <p:sldId id="26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8" userDrawn="1">
          <p15:clr>
            <a:srgbClr val="A4A3A4"/>
          </p15:clr>
        </p15:guide>
        <p15:guide id="2" pos="38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98" d="100"/>
          <a:sy n="98" d="100"/>
        </p:scale>
        <p:origin x="-258" y="-72"/>
      </p:cViewPr>
      <p:guideLst>
        <p:guide orient="horz" pos="2158"/>
        <p:guide pos="383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endParaRPr kumimoji="0" lang="en-US"/>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4" name="Date Placeholder 3"/>
          <p:cNvSpPr>
            <a:spLocks noGrp="1"/>
          </p:cNvSpPr>
          <p:nvPr>
            <p:ph type="dt" sz="half" idx="10"/>
          </p:nvPr>
        </p:nvSpPr>
        <p:spPr/>
        <p:txBody>
          <a:bodyPr/>
          <a:lstStyle/>
          <a:p>
            <a:fld id="{9796027F-7875-4030-9381-8BD8C4F2193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endParaRPr kumimoji="0" lang="en-US"/>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endParaRPr kumimoji="0" lang="en-US"/>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endParaRPr kumimoji="0" lang="en-US"/>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endParaRPr kumimoji="0" lang="en-US"/>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endParaRPr kumimoji="0" lang="en-US"/>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endParaRPr kumimoji="0" lang="en-US"/>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p:txBody>
          <a:bodyPr/>
          <a:lstStyle/>
          <a:p>
            <a:fld id="{B9CA7F16-7EF7-4BAE-A533-BC5C8B1B0BEB}"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endParaRPr kumimoji="0" lang="en-US"/>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fld>
            <a:endParaRPr lang="en-US"/>
          </a:p>
        </p:txBody>
      </p:sp>
      <p:sp>
        <p:nvSpPr>
          <p:cNvPr id="23" name="Title 22"/>
          <p:cNvSpPr>
            <a:spLocks noGrp="1"/>
          </p:cNvSpPr>
          <p:nvPr>
            <p:ph type="title"/>
          </p:nvPr>
        </p:nvSpPr>
        <p:spPr/>
        <p:txBody>
          <a:bodyPr rtlCol="0" anchor="b" anchorCtr="0"/>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endParaRPr kumimoji="0" lang="en-US"/>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endParaRPr kumimoji="0" lang="en-US"/>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7" name="Title 6"/>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8" name="Title 7"/>
          <p:cNvSpPr>
            <a:spLocks noGrp="1"/>
          </p:cNvSpPr>
          <p:nvPr>
            <p:ph type="title"/>
          </p:nvPr>
        </p:nvSpPr>
        <p:spPr/>
        <p:txBody>
          <a:bodyPr/>
          <a:lstStyle/>
          <a:p>
            <a:r>
              <a:rPr lang="en-US"/>
              <a:t>Click to edit Master title style</a:t>
            </a:r>
            <a:endParaRPr lang="en-US"/>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796027F-7875-4030-9381-8BD8C4F2193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
        <p:nvSpPr>
          <p:cNvPr id="8" name="Title 7"/>
          <p:cNvSpPr>
            <a:spLocks noGrp="1"/>
          </p:cNvSpPr>
          <p:nvPr>
            <p:ph type="title"/>
          </p:nvPr>
        </p:nvSpPr>
        <p:spPr/>
        <p:txBody>
          <a:bodyPr/>
          <a:lstStyle/>
          <a:p>
            <a:r>
              <a:rPr lang="en-US"/>
              <a:t>Click to edit Master title style</a:t>
            </a:r>
            <a:endParaRPr lang="en-US"/>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endParaRPr lang="en-US"/>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panose="05040102010807070707"/>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panose="05020102010507070707"/>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panose="05020102010507070707"/>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2"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microsoft.com/office/2007/relationships/hdphoto" Target="../media/image8.wdp"/><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BEBA8EAE-BF5A-486C-A8C5-ECC9F3942E4B}">
                <a14:imgProps xmlns:a14="http://schemas.microsoft.com/office/drawing/2010/main">
                  <a14:imgLayer r:embed="rId2">
                    <a14:imgEffect>
                      <a14:colorTemperature colorTemp="4700"/>
                    </a14:imgEffect>
                    <a14:imgEffect>
                      <a14:saturation sat="300000"/>
                    </a14:imgEffect>
                  </a14:imgLayer>
                </a14:imgProps>
              </a:ext>
            </a:extLst>
          </a:blip>
          <a:srcRect/>
          <a:stretch>
            <a:fillRect/>
          </a:stretch>
        </p:blipFill>
        <p:spPr>
          <a:xfrm>
            <a:off x="1516743" y="876925"/>
            <a:ext cx="1219200" cy="1132826"/>
          </a:xfrm>
          <a:prstGeom prst="rect">
            <a:avLst/>
          </a:prstGeom>
        </p:spPr>
      </p:pic>
      <p:sp>
        <p:nvSpPr>
          <p:cNvPr id="2" name="Title 1"/>
          <p:cNvSpPr>
            <a:spLocks noGrp="1"/>
          </p:cNvSpPr>
          <p:nvPr>
            <p:ph type="ctrTitle"/>
          </p:nvPr>
        </p:nvSpPr>
        <p:spPr>
          <a:xfrm>
            <a:off x="519358" y="220725"/>
            <a:ext cx="11451771" cy="2790489"/>
          </a:xfrm>
        </p:spPr>
        <p:txBody>
          <a:bodyPr>
            <a:normAutofit fontScale="90000"/>
          </a:bodyPr>
          <a:lstStyle/>
          <a:p>
            <a:pPr marL="182880" indent="0" algn="ctr">
              <a:buNone/>
            </a:pPr>
            <a:r>
              <a:rPr lang="en-US" sz="2700" b="1" dirty="0">
                <a:solidFill>
                  <a:srgbClr val="FF0000"/>
                </a:solidFill>
                <a:effectLst/>
              </a:rPr>
              <a:t>ANNAMACHARYA INSTITUTE OF TECHNOLOGY AND SCIENCES::TIRUPATI</a:t>
            </a:r>
            <a:br>
              <a:rPr lang="en-US" sz="2700" b="1" dirty="0">
                <a:solidFill>
                  <a:srgbClr val="FF0000"/>
                </a:solidFill>
                <a:effectLst/>
              </a:rPr>
            </a:br>
            <a:r>
              <a:rPr lang="en-IN" sz="2000" b="1" dirty="0">
                <a:solidFill>
                  <a:srgbClr val="FF0000"/>
                </a:solidFill>
                <a:effectLst/>
              </a:rPr>
              <a:t>(AUTONOMOUS)</a:t>
            </a:r>
            <a:br>
              <a:rPr lang="en-IN" sz="2000" b="1" dirty="0">
                <a:solidFill>
                  <a:srgbClr val="FF0000"/>
                </a:solidFill>
                <a:effectLst/>
              </a:rPr>
            </a:br>
            <a:r>
              <a:rPr lang="en-US" altLang="en-IN" sz="2400" dirty="0">
                <a:solidFill>
                  <a:srgbClr val="0033CC"/>
                </a:solidFill>
                <a:effectLst/>
              </a:rPr>
              <a:t>Department Of </a:t>
            </a:r>
            <a:r>
              <a:rPr lang="en-IN" sz="2400" dirty="0">
                <a:solidFill>
                  <a:srgbClr val="0033CC"/>
                </a:solidFill>
                <a:effectLst/>
              </a:rPr>
              <a:t>Artificial Intelligence</a:t>
            </a:r>
            <a:br>
              <a:rPr lang="en-IN" sz="2400" dirty="0">
                <a:solidFill>
                  <a:srgbClr val="0033CC"/>
                </a:solidFill>
                <a:effectLst/>
              </a:rPr>
            </a:br>
            <a:r>
              <a:rPr lang="en-US" altLang="en-IN" sz="2400" dirty="0">
                <a:solidFill>
                  <a:srgbClr val="0033CC"/>
                </a:solidFill>
                <a:effectLst/>
              </a:rPr>
              <a:t>(AIDS &amp; AIML)</a:t>
            </a:r>
            <a:br>
              <a:rPr lang="en-IN" sz="2000" dirty="0">
                <a:solidFill>
                  <a:srgbClr val="0033CC"/>
                </a:solidFill>
                <a:effectLst/>
              </a:rPr>
            </a:br>
            <a:r>
              <a:rPr lang="en-IN" sz="2400" dirty="0">
                <a:effectLst/>
                <a:latin typeface="Algerian" panose="04020705040A02060702" pitchFamily="82" charset="0"/>
              </a:rPr>
              <a:t>A.Y.: 2024-2025</a:t>
            </a:r>
            <a:br>
              <a:rPr lang="en-IN" sz="2700" b="1" dirty="0">
                <a:solidFill>
                  <a:schemeClr val="accent1">
                    <a:lumMod val="75000"/>
                  </a:schemeClr>
                </a:solidFill>
                <a:effectLst/>
              </a:rPr>
            </a:br>
            <a:r>
              <a:rPr lang="en-IN" sz="2700" b="1" dirty="0">
                <a:solidFill>
                  <a:schemeClr val="accent1">
                    <a:lumMod val="75000"/>
                  </a:schemeClr>
                </a:solidFill>
                <a:effectLst/>
              </a:rPr>
              <a:t>ABSTRACT REVIEW</a:t>
            </a:r>
            <a:br>
              <a:rPr lang="en-IN" sz="2700" b="1" dirty="0">
                <a:solidFill>
                  <a:schemeClr val="accent1">
                    <a:lumMod val="75000"/>
                  </a:schemeClr>
                </a:solidFill>
                <a:effectLst/>
              </a:rPr>
            </a:br>
            <a:br>
              <a:rPr lang="en-IN" sz="2000" dirty="0">
                <a:effectLst/>
              </a:rPr>
            </a:br>
            <a:r>
              <a:rPr lang="en-IN" sz="2665" dirty="0">
                <a:solidFill>
                  <a:srgbClr val="FF0000"/>
                </a:solidFill>
                <a:effectLst/>
              </a:rPr>
              <a:t>Machine Learning-Based Classification of Sleep Patterns and Disorders</a:t>
            </a:r>
            <a:endParaRPr lang="en-IN" sz="2665" dirty="0">
              <a:solidFill>
                <a:srgbClr val="FF0000"/>
              </a:solidFill>
              <a:effectLst/>
            </a:endParaRPr>
          </a:p>
        </p:txBody>
      </p:sp>
      <p:sp>
        <p:nvSpPr>
          <p:cNvPr id="5" name="TextBox 4"/>
          <p:cNvSpPr txBox="1"/>
          <p:nvPr/>
        </p:nvSpPr>
        <p:spPr>
          <a:xfrm>
            <a:off x="2536985" y="4404705"/>
            <a:ext cx="6893886" cy="1999615"/>
          </a:xfrm>
          <a:prstGeom prst="rect">
            <a:avLst/>
          </a:prstGeom>
          <a:noFill/>
        </p:spPr>
        <p:txBody>
          <a:bodyPr wrap="square" rtlCol="0">
            <a:spAutoFit/>
          </a:bodyPr>
          <a:lstStyle/>
          <a:p>
            <a:r>
              <a:rPr lang="en-GB" sz="2000" b="1" dirty="0"/>
              <a:t>  		</a:t>
            </a:r>
            <a:r>
              <a:rPr lang="en-GB" sz="2400" b="1" dirty="0">
                <a:solidFill>
                  <a:srgbClr val="FF0000"/>
                </a:solidFill>
              </a:rPr>
              <a:t>AIDS-</a:t>
            </a:r>
            <a:r>
              <a:rPr lang="en-US" altLang="en-GB" sz="2400" b="1" dirty="0">
                <a:solidFill>
                  <a:srgbClr val="FF0000"/>
                </a:solidFill>
              </a:rPr>
              <a:t>2</a:t>
            </a:r>
            <a:r>
              <a:rPr lang="en-GB" sz="2000" b="1" dirty="0">
                <a:solidFill>
                  <a:srgbClr val="FF0000"/>
                </a:solidFill>
              </a:rPr>
              <a:t>- </a:t>
            </a:r>
            <a:r>
              <a:rPr lang="en-GB" sz="2400" b="1" dirty="0">
                <a:solidFill>
                  <a:srgbClr val="FF0000"/>
                </a:solidFill>
              </a:rPr>
              <a:t>BATCH NO: 0</a:t>
            </a:r>
            <a:r>
              <a:rPr lang="en-US" altLang="en-GB" sz="2400" b="1" dirty="0">
                <a:solidFill>
                  <a:srgbClr val="FF0000"/>
                </a:solidFill>
              </a:rPr>
              <a:t>1</a:t>
            </a:r>
            <a:endParaRPr lang="en-GB" sz="2400" b="1" dirty="0">
              <a:solidFill>
                <a:srgbClr val="FF0000"/>
              </a:solidFill>
            </a:endParaRPr>
          </a:p>
          <a:p>
            <a:endParaRPr lang="en-GB" sz="2000" b="1" dirty="0">
              <a:solidFill>
                <a:schemeClr val="accent6"/>
              </a:solidFill>
            </a:endParaRPr>
          </a:p>
          <a:p>
            <a:pPr algn="just"/>
            <a:r>
              <a:rPr lang="en-US" sz="2000" b="1" dirty="0"/>
              <a:t>21AK1A3063  		             M.RAMANA KUMAR REDDY</a:t>
            </a:r>
            <a:endParaRPr lang="en-US" sz="2000" b="1" dirty="0"/>
          </a:p>
          <a:p>
            <a:pPr algn="just"/>
            <a:r>
              <a:rPr lang="en-US" sz="2000" b="1" dirty="0"/>
              <a:t>21AK1A3054 		             P.PAVAN KUMAR REDDY</a:t>
            </a:r>
            <a:endParaRPr lang="en-US" sz="2000" b="1" dirty="0"/>
          </a:p>
          <a:p>
            <a:r>
              <a:rPr lang="en-US" sz="2000" b="1" dirty="0"/>
              <a:t>21AK1A3060			       B.PUNEETH</a:t>
            </a:r>
            <a:endParaRPr lang="en-US" sz="2000" b="1" dirty="0"/>
          </a:p>
          <a:p>
            <a:r>
              <a:rPr lang="en-US" sz="2000" b="1" dirty="0"/>
              <a:t>21AK1A3093 			       K.VENKATA SUDEEP</a:t>
            </a:r>
            <a:endParaRPr lang="en-IN" sz="2000" b="1" dirty="0"/>
          </a:p>
        </p:txBody>
      </p:sp>
      <p:sp>
        <p:nvSpPr>
          <p:cNvPr id="6" name="TextBox 5"/>
          <p:cNvSpPr txBox="1"/>
          <p:nvPr/>
        </p:nvSpPr>
        <p:spPr>
          <a:xfrm>
            <a:off x="-1" y="3150249"/>
            <a:ext cx="4544292" cy="1630045"/>
          </a:xfrm>
          <a:prstGeom prst="rect">
            <a:avLst/>
          </a:prstGeom>
          <a:noFill/>
        </p:spPr>
        <p:txBody>
          <a:bodyPr wrap="square" rtlCol="0">
            <a:spAutoFit/>
          </a:bodyPr>
          <a:lstStyle/>
          <a:p>
            <a:r>
              <a:rPr lang="en-GB" sz="2000" b="1" dirty="0">
                <a:solidFill>
                  <a:srgbClr val="FF0000"/>
                </a:solidFill>
              </a:rPr>
              <a:t>Under the Guidance of</a:t>
            </a:r>
            <a:endParaRPr lang="en-GB" sz="2000" b="1" dirty="0">
              <a:solidFill>
                <a:srgbClr val="FF0000"/>
              </a:solidFill>
            </a:endParaRPr>
          </a:p>
          <a:p>
            <a:r>
              <a:rPr lang="en-GB" sz="2000" b="1" dirty="0" err="1">
                <a:solidFill>
                  <a:srgbClr val="0033CC"/>
                </a:solidFill>
              </a:rPr>
              <a:t>M</a:t>
            </a:r>
            <a:r>
              <a:rPr lang="en-US" altLang="en-GB" sz="2000" b="1" dirty="0" err="1">
                <a:solidFill>
                  <a:srgbClr val="0033CC"/>
                </a:solidFill>
              </a:rPr>
              <a:t>s V S Gayathri , M.Tech </a:t>
            </a:r>
            <a:endParaRPr lang="en-GB" sz="2000" b="1" dirty="0">
              <a:solidFill>
                <a:srgbClr val="0033CC"/>
              </a:solidFill>
            </a:endParaRPr>
          </a:p>
          <a:p>
            <a:r>
              <a:rPr lang="en-GB" sz="2000" b="1" dirty="0"/>
              <a:t>Assistant Professor</a:t>
            </a:r>
            <a:endParaRPr lang="en-GB" sz="2000" b="1" dirty="0"/>
          </a:p>
          <a:p>
            <a:r>
              <a:rPr lang="en-GB" sz="2000" b="1" dirty="0"/>
              <a:t>Department of AI</a:t>
            </a:r>
            <a:endParaRPr lang="en-GB" sz="2000" b="1" dirty="0"/>
          </a:p>
          <a:p>
            <a:r>
              <a:rPr lang="en-GB" sz="2000" b="1" dirty="0"/>
              <a:t>AITS, Tirupati</a:t>
            </a:r>
            <a:endParaRPr lang="en-IN" sz="2000" b="1" dirty="0"/>
          </a:p>
        </p:txBody>
      </p:sp>
      <p:sp>
        <p:nvSpPr>
          <p:cNvPr id="7" name="TextBox 6"/>
          <p:cNvSpPr txBox="1"/>
          <p:nvPr/>
        </p:nvSpPr>
        <p:spPr>
          <a:xfrm>
            <a:off x="7200347" y="3047202"/>
            <a:ext cx="4770782" cy="1630045"/>
          </a:xfrm>
          <a:prstGeom prst="rect">
            <a:avLst/>
          </a:prstGeom>
          <a:noFill/>
        </p:spPr>
        <p:txBody>
          <a:bodyPr wrap="square" rtlCol="0">
            <a:spAutoFit/>
          </a:bodyPr>
          <a:lstStyle/>
          <a:p>
            <a:r>
              <a:rPr lang="en-GB" sz="2000" b="1" dirty="0">
                <a:solidFill>
                  <a:srgbClr val="FF0000"/>
                </a:solidFill>
              </a:rPr>
              <a:t>Head of the Department</a:t>
            </a:r>
            <a:endParaRPr lang="en-GB" sz="2000" b="1" dirty="0">
              <a:solidFill>
                <a:srgbClr val="FF0000"/>
              </a:solidFill>
            </a:endParaRPr>
          </a:p>
          <a:p>
            <a:r>
              <a:rPr lang="en-GB" sz="2000" b="1" dirty="0">
                <a:solidFill>
                  <a:srgbClr val="0033CC"/>
                </a:solidFill>
              </a:rPr>
              <a:t>Dr </a:t>
            </a:r>
            <a:r>
              <a:rPr lang="en-GB" sz="2000" b="1" dirty="0" err="1">
                <a:solidFill>
                  <a:srgbClr val="0033CC"/>
                </a:solidFill>
              </a:rPr>
              <a:t>C.Siva</a:t>
            </a:r>
            <a:r>
              <a:rPr lang="en-GB" sz="2000" b="1" dirty="0">
                <a:solidFill>
                  <a:srgbClr val="0033CC"/>
                </a:solidFill>
              </a:rPr>
              <a:t> Balaji Yadav., </a:t>
            </a:r>
            <a:r>
              <a:rPr lang="en-GB" sz="2000" b="1" dirty="0" err="1">
                <a:solidFill>
                  <a:srgbClr val="0033CC"/>
                </a:solidFill>
              </a:rPr>
              <a:t>Ph.D</a:t>
            </a:r>
            <a:endParaRPr lang="en-GB" sz="2000" b="1" dirty="0">
              <a:solidFill>
                <a:srgbClr val="0033CC"/>
              </a:solidFill>
            </a:endParaRPr>
          </a:p>
          <a:p>
            <a:r>
              <a:rPr lang="en-GB" sz="2000" b="1" dirty="0"/>
              <a:t> Professor</a:t>
            </a:r>
            <a:endParaRPr lang="en-GB" sz="2000" b="1" dirty="0"/>
          </a:p>
          <a:p>
            <a:r>
              <a:rPr lang="en-GB" sz="2000" b="1" dirty="0"/>
              <a:t>Department of AI</a:t>
            </a:r>
            <a:endParaRPr lang="en-GB" sz="2000" b="1" dirty="0"/>
          </a:p>
          <a:p>
            <a:r>
              <a:rPr lang="en-GB" sz="2000" b="1" dirty="0"/>
              <a:t>AITS, Tirupati</a:t>
            </a:r>
            <a:endParaRPr lang="en-IN" sz="2000" b="1"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ABSTRACT</a:t>
            </a:r>
            <a:endParaRPr lang="en-IN" sz="3200" b="1" dirty="0">
              <a:solidFill>
                <a:srgbClr val="6666FF"/>
              </a:solidFill>
            </a:endParaRPr>
          </a:p>
        </p:txBody>
      </p:sp>
      <p:sp>
        <p:nvSpPr>
          <p:cNvPr id="3" name="Content Placeholder 2"/>
          <p:cNvSpPr>
            <a:spLocks noGrp="1"/>
          </p:cNvSpPr>
          <p:nvPr>
            <p:ph sz="quarter" idx="13"/>
          </p:nvPr>
        </p:nvSpPr>
        <p:spPr>
          <a:xfrm>
            <a:off x="1001489" y="1306286"/>
            <a:ext cx="10232571" cy="5021943"/>
          </a:xfrm>
          <a:prstGeom prst="rect">
            <a:avLst/>
          </a:prstGeom>
        </p:spPr>
        <p:txBody>
          <a:bodyPr>
            <a:normAutofit fontScale="90000"/>
          </a:bodyPr>
          <a:lstStyle/>
          <a:p>
            <a:pPr marL="4572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45720" indent="0" algn="just">
              <a:lnSpc>
                <a:spcPct val="150000"/>
              </a:lnSpc>
              <a:spcAft>
                <a:spcPts val="800"/>
              </a:spcAft>
              <a:buNone/>
            </a:pPr>
            <a:r>
              <a:rPr lang="en-US" sz="1890" dirty="0">
                <a:solidFill>
                  <a:srgbClr val="000000"/>
                </a:solidFill>
                <a:latin typeface="Times New Roman" panose="02020603050405020304" pitchFamily="18" charset="0"/>
                <a:sym typeface="+mn-ea"/>
              </a:rPr>
              <a:t>Sleep disorders significantly impact physical and mental health, necessitating accurate and accessible diagnostic methods. Traditional diagnostic techniques like Polysomnography (PSG) are often inconvenient, expensive, and limited in availability. This project aims to leverage machine learning algorithms to classify sleep disorders using health and lifestyle data from the Kaggle Sleep Health and Lifestyle Dataset. The existing system employs algorithms such as K-Nearest Neighbors (KNN), Support Vector Machine (SVM), Decision Tree, Random Forest, and Artificial Neural Network (ANN), which have several limitations including computational expense and sensitivity to hyperparameters. To address these issues, the proposed system implements ensemble learning techniques, specifically Stacking Classifier and Voting Classifier, to enhance accuracy, robustness, and interpretability. By combining the strengths of multiple models, the project seeks to provide a more efficient, cost-effective, and accessible solution for diagnosing sleep disorders, ultimately improving patient outcomes and quality of life.</a:t>
            </a:r>
            <a:endParaRPr lang="en-IN" sz="1890" dirty="0">
              <a:solidFill>
                <a:srgbClr val="000000"/>
              </a:solidFill>
              <a:latin typeface="Times New Roman" panose="02020603050405020304" pitchFamily="18" charset="0"/>
            </a:endParaRPr>
          </a:p>
          <a:p>
            <a:pPr marL="45720" indent="0" algn="just">
              <a:lnSpc>
                <a:spcPct val="150000"/>
              </a:lnSpc>
              <a:buNone/>
            </a:pPr>
            <a:endParaRPr lang="en-US" sz="1890" b="1"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DOMAIN INTRODUCTION</a:t>
            </a:r>
            <a:endParaRPr lang="en-IN" sz="3200" b="1" dirty="0">
              <a:solidFill>
                <a:srgbClr val="6666FF"/>
              </a:solidFill>
            </a:endParaRPr>
          </a:p>
        </p:txBody>
      </p:sp>
      <p:sp>
        <p:nvSpPr>
          <p:cNvPr id="3" name="Content Placeholder 2"/>
          <p:cNvSpPr>
            <a:spLocks noGrp="1"/>
          </p:cNvSpPr>
          <p:nvPr>
            <p:ph sz="quarter" idx="13"/>
          </p:nvPr>
        </p:nvSpPr>
        <p:spPr>
          <a:xfrm>
            <a:off x="1001490" y="1335314"/>
            <a:ext cx="10203543" cy="4992914"/>
          </a:xfrm>
          <a:prstGeom prst="rect">
            <a:avLst/>
          </a:prstGeom>
        </p:spPr>
        <p:txBody>
          <a:bodyPr>
            <a:normAutofit/>
          </a:bodyPr>
          <a:lstStyle/>
          <a:p>
            <a:pPr marL="4572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 Machine learning helps uncover sleep patterns, making sleep disorder diagnosis easier and more accurate.</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 Sleep disorders have a significant impact on millions of people worldwide, affecting their physical and mental health.</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sym typeface="+mn-ea"/>
              </a:rPr>
              <a:t> Traditional diagnostic methods for sleep disorders, such as Polysomnography, have limitations, including inaccessibility and high cost. </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 This project proposes the use of machine learning algorithms to classify sleep disorders using health and lifestyle data.</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1600" i="0" dirty="0">
                <a:effectLst/>
                <a:latin typeface="Times New Roman" panose="02020603050405020304" pitchFamily="18" charset="0"/>
                <a:cs typeface="Times New Roman" panose="02020603050405020304" pitchFamily="18" charset="0"/>
              </a:rPr>
              <a:t> Traditional machine learning algorithms, such as KNN and SVM, have limitations, including computational expense and risk of overfitting..</a:t>
            </a:r>
            <a:endParaRPr lang="en-US" sz="1600" dirty="0">
              <a:solidFill>
                <a:schemeClr val="tx1"/>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 Ensemble learning techniques, such as Stacking Classifier and Voting Classifier, can be used to enhance the performance and robustness of sleep disorder classification models.</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 Keywords:Sleep Disorders,  Machine Learning, Stacking Classifier, Voting Classifier, Sleep Apnea, Insomnia.</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98450" y="582295"/>
            <a:ext cx="11561445" cy="5845810"/>
          </a:xfrm>
          <a:prstGeom prst="rect">
            <a:avLst/>
          </a:prstGeom>
          <a:noFill/>
        </p:spPr>
        <p:txBody>
          <a:bodyPr wrap="none" rtlCol="0">
            <a:noAutofit/>
          </a:bodyPr>
          <a:lstStyle/>
          <a:p>
            <a:pPr algn="l"/>
            <a:r>
              <a:rPr lang="en-US" sz="1800" b="1" dirty="0">
                <a:solidFill>
                  <a:srgbClr val="6666FF"/>
                </a:solidFill>
              </a:rPr>
              <a:t>                                                       DIS-ADVANTAGES OF EXISTING </a:t>
            </a:r>
            <a:r>
              <a:rPr lang="en-US" b="1" dirty="0">
                <a:solidFill>
                  <a:srgbClr val="6666FF"/>
                </a:solidFill>
              </a:rPr>
              <a:t>SYSTEM</a:t>
            </a:r>
            <a:endParaRPr lang="en-US" b="1" dirty="0">
              <a:solidFill>
                <a:srgbClr val="6666FF"/>
              </a:solidFill>
            </a:endParaRPr>
          </a:p>
          <a:p>
            <a:pPr algn="l"/>
            <a:endParaRPr lang="en-US" b="1" dirty="0">
              <a:solidFill>
                <a:srgbClr val="6666FF"/>
              </a:solidFill>
            </a:endParaRPr>
          </a:p>
          <a:p>
            <a:pPr algn="l"/>
            <a:endParaRPr lang="en-US" b="1" dirty="0">
              <a:solidFill>
                <a:srgbClr val="6666FF"/>
              </a:solidFill>
            </a:endParaRPr>
          </a:p>
          <a:p>
            <a:pPr marL="285750" indent="-285750" algn="l">
              <a:lnSpc>
                <a:spcPct val="150000"/>
              </a:lnSpc>
              <a:spcAft>
                <a:spcPts val="800"/>
              </a:spcAft>
              <a:buFont typeface="Arial" panose="020B0604020202020204" pitchFamily="34" charset="0"/>
              <a:buChar char="•"/>
            </a:pPr>
            <a:r>
              <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Extended Procedure: Polysomnography requires an overnight stay in a sleep laboratory, which can be inconvenient</a:t>
            </a:r>
            <a:endPar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endParaRPr>
          </a:p>
          <a:p>
            <a:pPr indent="0" algn="l">
              <a:lnSpc>
                <a:spcPct val="150000"/>
              </a:lnSpc>
              <a:spcAft>
                <a:spcPts val="800"/>
              </a:spcAft>
              <a:buFont typeface="Arial" panose="020B0604020202020204" pitchFamily="34" charset="0"/>
              <a:buNone/>
            </a:pPr>
            <a:r>
              <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for patients and disrupt their daily routines.</a:t>
            </a:r>
            <a:endPar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endParaRPr>
          </a:p>
          <a:p>
            <a:pPr marL="285750" indent="-285750" algn="l">
              <a:lnSpc>
                <a:spcPct val="150000"/>
              </a:lnSpc>
              <a:spcAft>
                <a:spcPts val="800"/>
              </a:spcAft>
              <a:buFont typeface="Arial" panose="020B0604020202020204" pitchFamily="34" charset="0"/>
              <a:buChar char="•"/>
            </a:pPr>
            <a:r>
              <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Preparation and Follow-Up: The process involves significant preparation and follow-up visits, adding to the overall</a:t>
            </a:r>
            <a:endPar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endParaRPr>
          </a:p>
          <a:p>
            <a:pPr indent="0" algn="l">
              <a:lnSpc>
                <a:spcPct val="150000"/>
              </a:lnSpc>
              <a:spcAft>
                <a:spcPts val="800"/>
              </a:spcAft>
              <a:buFont typeface="Arial" panose="020B0604020202020204" pitchFamily="34" charset="0"/>
              <a:buNone/>
            </a:pPr>
            <a:r>
              <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time commitment for patients.</a:t>
            </a:r>
            <a:endPar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endParaRPr>
          </a:p>
          <a:p>
            <a:pPr marL="285750" indent="-285750" algn="l">
              <a:lnSpc>
                <a:spcPct val="150000"/>
              </a:lnSpc>
              <a:spcAft>
                <a:spcPts val="800"/>
              </a:spcAft>
              <a:buFont typeface="Arial" panose="020B0604020202020204" pitchFamily="34" charset="0"/>
              <a:buChar char="•"/>
            </a:pPr>
            <a:r>
              <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Expensive Equipment and Personnel: PSG involves costly equipment and requires specialized healthcare personnel,</a:t>
            </a:r>
            <a:endPar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endParaRPr>
          </a:p>
          <a:p>
            <a:pPr indent="0" algn="l">
              <a:lnSpc>
                <a:spcPct val="150000"/>
              </a:lnSpc>
              <a:spcAft>
                <a:spcPts val="800"/>
              </a:spcAft>
              <a:buFont typeface="Arial" panose="020B0604020202020204" pitchFamily="34" charset="0"/>
              <a:buNone/>
            </a:pPr>
            <a:r>
              <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making it an expensive diagnostic method.</a:t>
            </a:r>
            <a:endPar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endParaRPr>
          </a:p>
          <a:p>
            <a:pPr marL="285750" indent="-285750" algn="l">
              <a:lnSpc>
                <a:spcPct val="150000"/>
              </a:lnSpc>
              <a:spcAft>
                <a:spcPts val="800"/>
              </a:spcAft>
              <a:buFont typeface="Arial" panose="020B0604020202020204" pitchFamily="34" charset="0"/>
              <a:buChar char="•"/>
            </a:pPr>
            <a:r>
              <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Long Waiting Times: Due to the limited number of sleep centers and high demand, patients often face long waiting</a:t>
            </a:r>
            <a:endPar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endParaRPr>
          </a:p>
          <a:p>
            <a:pPr indent="0" algn="l">
              <a:lnSpc>
                <a:spcPct val="150000"/>
              </a:lnSpc>
              <a:spcAft>
                <a:spcPts val="800"/>
              </a:spcAft>
              <a:buFont typeface="Arial" panose="020B0604020202020204" pitchFamily="34" charset="0"/>
              <a:buNone/>
            </a:pPr>
            <a:r>
              <a:rPr lang="en-US"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times for appointments.</a:t>
            </a:r>
            <a:r>
              <a:rPr lang="en-US" b="1" dirty="0">
                <a:solidFill>
                  <a:srgbClr val="6666FF"/>
                </a:solidFill>
              </a:rPr>
              <a:t> </a:t>
            </a:r>
            <a:endParaRPr lang="en-IN" dirty="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580" y="207985"/>
            <a:ext cx="9286993" cy="619329"/>
          </a:xfrm>
        </p:spPr>
        <p:txBody>
          <a:bodyPr>
            <a:normAutofit/>
          </a:bodyPr>
          <a:lstStyle/>
          <a:p>
            <a:pPr marL="0" indent="0" algn="ctr">
              <a:buNone/>
            </a:pPr>
            <a:r>
              <a:rPr lang="en-IN" sz="3200" b="1" dirty="0">
                <a:solidFill>
                  <a:srgbClr val="6666FF"/>
                </a:solidFill>
              </a:rPr>
              <a:t>LITERATURE SURVEY</a:t>
            </a:r>
            <a:endParaRPr lang="en-IN" sz="3200" b="1" dirty="0">
              <a:solidFill>
                <a:srgbClr val="6666FF"/>
              </a:solidFill>
            </a:endParaRPr>
          </a:p>
        </p:txBody>
      </p:sp>
      <p:graphicFrame>
        <p:nvGraphicFramePr>
          <p:cNvPr id="4" name="Table 3"/>
          <p:cNvGraphicFramePr>
            <a:graphicFrameLocks noGrp="1"/>
          </p:cNvGraphicFramePr>
          <p:nvPr/>
        </p:nvGraphicFramePr>
        <p:xfrm>
          <a:off x="132550" y="936524"/>
          <a:ext cx="11927205" cy="5704840"/>
        </p:xfrm>
        <a:graphic>
          <a:graphicData uri="http://schemas.openxmlformats.org/drawingml/2006/table">
            <a:tbl>
              <a:tblPr firstRow="1" bandRow="1">
                <a:tableStyleId>{5C22544A-7EE6-4342-B048-85BDC9FD1C3A}</a:tableStyleId>
              </a:tblPr>
              <a:tblGrid>
                <a:gridCol w="808744"/>
                <a:gridCol w="1877898"/>
                <a:gridCol w="3503295"/>
                <a:gridCol w="1958975"/>
                <a:gridCol w="1478915"/>
                <a:gridCol w="2299072"/>
              </a:tblGrid>
              <a:tr h="944718">
                <a:tc>
                  <a:txBody>
                    <a:bodyPr/>
                    <a:lstStyle/>
                    <a:p>
                      <a:r>
                        <a:rPr lang="en-US" dirty="0"/>
                        <a:t>S. No</a:t>
                      </a:r>
                      <a:endParaRPr lang="en-US" dirty="0"/>
                    </a:p>
                  </a:txBody>
                  <a:tcPr/>
                </a:tc>
                <a:tc>
                  <a:txBody>
                    <a:bodyPr/>
                    <a:lstStyle/>
                    <a:p>
                      <a:pPr algn="ctr"/>
                      <a:r>
                        <a:rPr lang="en-US" dirty="0"/>
                        <a:t>Title of the Paper</a:t>
                      </a:r>
                      <a:endParaRPr lang="en-US" dirty="0"/>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YEAR</a:t>
                      </a:r>
                      <a:endParaRPr lang="en-US" dirty="0"/>
                    </a:p>
                  </a:txBody>
                  <a:tcPr/>
                </a:tc>
                <a:tc>
                  <a:txBody>
                    <a:bodyPr/>
                    <a:lstStyle/>
                    <a:p>
                      <a:pPr algn="ctr"/>
                      <a:r>
                        <a:rPr lang="en-US" dirty="0"/>
                        <a:t>AUTHOR NAMES</a:t>
                      </a:r>
                      <a:endParaRPr lang="en-US" dirty="0"/>
                    </a:p>
                  </a:txBody>
                  <a:tcPr/>
                </a:tc>
              </a:tr>
              <a:tr h="2473960">
                <a:tc>
                  <a:txBody>
                    <a:bodyPr/>
                    <a:lstStyle/>
                    <a:p>
                      <a:pPr algn="ctr"/>
                      <a:r>
                        <a:rPr lang="en-US" sz="1600" dirty="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sym typeface="+mn-ea"/>
                        </a:rPr>
                        <a:t>Ensemble SVM Method for Automatic Sleep Stage Classification,</a:t>
                      </a:r>
                      <a:endParaRPr lang="en-US" sz="1600" b="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effectLst/>
                          <a:latin typeface="Times New Roman" panose="02020603050405020304" pitchFamily="18" charset="0"/>
                          <a:cs typeface="Times New Roman" panose="02020603050405020304" pitchFamily="18" charset="0"/>
                          <a:sym typeface="+mn-ea"/>
                        </a:rPr>
                        <a:t>This paper discusses the use of ensemble support vector machine (SVM) methods for automatic sleep stage classification. The authors address the challenges of accurately classifying sleep stages and demonstrate the effectiveness of ensemble methods in improving classification accuracy</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Support Vector Machine(SVM)</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dirty="0">
                          <a:effectLst/>
                          <a:latin typeface="Times New Roman" panose="02020603050405020304" pitchFamily="18" charset="0"/>
                          <a:cs typeface="Times New Roman" panose="02020603050405020304" pitchFamily="18" charset="0"/>
                          <a:sym typeface="+mn-ea"/>
                        </a:rPr>
                        <a:t>201</a:t>
                      </a:r>
                      <a:r>
                        <a:rPr lang="en-US" altLang="en-IN" sz="1600" dirty="0">
                          <a:effectLst/>
                          <a:latin typeface="Times New Roman" panose="02020603050405020304" pitchFamily="18" charset="0"/>
                          <a:cs typeface="Times New Roman" panose="02020603050405020304" pitchFamily="18" charset="0"/>
                          <a:sym typeface="+mn-ea"/>
                        </a:rPr>
                        <a:t>8</a:t>
                      </a:r>
                      <a:endParaRPr lang="en-US" sz="1600" b="0" i="0" kern="1200" dirty="0">
                        <a:solidFill>
                          <a:schemeClr val="dk1"/>
                        </a:solidFill>
                        <a:effectLst/>
                        <a:latin typeface="Times New Roman" panose="02020603050405020304" pitchFamily="18" charset="0"/>
                        <a:ea typeface="+mn-ea"/>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effectLst/>
                          <a:latin typeface="Times New Roman" panose="02020603050405020304" pitchFamily="18" charset="0"/>
                          <a:cs typeface="Times New Roman" panose="02020603050405020304" pitchFamily="18" charset="0"/>
                          <a:sym typeface="+mn-ea"/>
                        </a:rPr>
                        <a:t>E. </a:t>
                      </a:r>
                      <a:r>
                        <a:rPr lang="en-US" sz="1600" dirty="0" err="1">
                          <a:effectLst/>
                          <a:latin typeface="Times New Roman" panose="02020603050405020304" pitchFamily="18" charset="0"/>
                          <a:cs typeface="Times New Roman" panose="02020603050405020304" pitchFamily="18" charset="0"/>
                          <a:sym typeface="+mn-ea"/>
                        </a:rPr>
                        <a:t>Alickovic</a:t>
                      </a:r>
                      <a:r>
                        <a:rPr lang="en-US" sz="1600" dirty="0">
                          <a:effectLst/>
                          <a:latin typeface="Times New Roman" panose="02020603050405020304" pitchFamily="18" charset="0"/>
                          <a:cs typeface="Times New Roman" panose="02020603050405020304" pitchFamily="18" charset="0"/>
                          <a:sym typeface="+mn-ea"/>
                        </a:rPr>
                        <a:t> &amp; A. Subasi</a:t>
                      </a:r>
                      <a:endParaRPr lang="en-US" sz="1600" b="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r>
              <a:tr h="2233158">
                <a:tc>
                  <a:txBody>
                    <a:bodyPr/>
                    <a:lstStyle/>
                    <a:p>
                      <a:pPr algn="ctr"/>
                      <a:r>
                        <a:rPr lang="en-US" sz="1600" dirty="0">
                          <a:latin typeface="Times New Roman" panose="02020603050405020304" pitchFamily="18" charset="0"/>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effectLst/>
                          <a:latin typeface="Times New Roman" panose="02020603050405020304" pitchFamily="18" charset="0"/>
                          <a:cs typeface="Times New Roman" panose="02020603050405020304" pitchFamily="18" charset="0"/>
                          <a:sym typeface="+mn-ea"/>
                        </a:rPr>
                        <a:t>Deep Learning for Classification of Sleep Stages</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effectLst/>
                          <a:latin typeface="Times New Roman" panose="02020603050405020304" pitchFamily="18" charset="0"/>
                          <a:cs typeface="Times New Roman" panose="02020603050405020304" pitchFamily="18" charset="0"/>
                          <a:sym typeface="+mn-ea"/>
                        </a:rPr>
                        <a:t>This study focuses on the application of deep learning techniques for the classification of sleep stages using EEG data. The authors emphasize the potential of deep learning models to handle complex and high-dimensional sleep data, achieving high classification accuracy.</a:t>
                      </a:r>
                      <a:endParaRPr lang="en-US" sz="1600" b="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Convolutional Neural Networks(CNN) &amp; </a:t>
                      </a:r>
                      <a:endParaRPr lang="en-US" sz="1600" dirty="0">
                        <a:latin typeface="Times New Roman" panose="02020603050405020304" pitchFamily="18" charset="0"/>
                        <a:cs typeface="Times New Roman" panose="02020603050405020304" pitchFamily="18" charset="0"/>
                      </a:endParaRPr>
                    </a:p>
                    <a:p>
                      <a:pPr algn="l"/>
                      <a:r>
                        <a:rPr lang="en-US" sz="1600" dirty="0">
                          <a:latin typeface="Times New Roman" panose="02020603050405020304" pitchFamily="18" charset="0"/>
                          <a:cs typeface="Times New Roman" panose="02020603050405020304" pitchFamily="18" charset="0"/>
                        </a:rPr>
                        <a:t>Recurrent Neural Networks(RNN)</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smtClean="0">
                          <a:latin typeface="Times New Roman" panose="02020603050405020304" pitchFamily="18" charset="0"/>
                          <a:cs typeface="Times New Roman" panose="02020603050405020304" pitchFamily="18" charset="0"/>
                        </a:rPr>
                        <a:t>2019</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effectLst/>
                          <a:latin typeface="Times New Roman" panose="02020603050405020304" pitchFamily="18" charset="0"/>
                          <a:cs typeface="Times New Roman" panose="02020603050405020304" pitchFamily="18" charset="0"/>
                          <a:sym typeface="+mn-ea"/>
                        </a:rPr>
                        <a:t>C. Tran, Y. Wijesuriya, R. </a:t>
                      </a:r>
                      <a:r>
                        <a:rPr lang="en-US" sz="1600" dirty="0" err="1">
                          <a:effectLst/>
                          <a:latin typeface="Times New Roman" panose="02020603050405020304" pitchFamily="18" charset="0"/>
                          <a:cs typeface="Times New Roman" panose="02020603050405020304" pitchFamily="18" charset="0"/>
                          <a:sym typeface="+mn-ea"/>
                        </a:rPr>
                        <a:t>Thuraisingham</a:t>
                      </a:r>
                      <a:r>
                        <a:rPr lang="en-US" sz="1600" dirty="0">
                          <a:effectLst/>
                          <a:latin typeface="Times New Roman" panose="02020603050405020304" pitchFamily="18" charset="0"/>
                          <a:cs typeface="Times New Roman" panose="02020603050405020304" pitchFamily="18" charset="0"/>
                          <a:sym typeface="+mn-ea"/>
                        </a:rPr>
                        <a:t>, A. Craig, &amp; H. Nguyen</a:t>
                      </a:r>
                      <a:endParaRPr lang="en-US" sz="16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07575" y="80682"/>
          <a:ext cx="11950065" cy="7312025"/>
        </p:xfrm>
        <a:graphic>
          <a:graphicData uri="http://schemas.openxmlformats.org/drawingml/2006/table">
            <a:tbl>
              <a:tblPr firstRow="1" bandRow="1">
                <a:tableStyleId>{5C22544A-7EE6-4342-B048-85BDC9FD1C3A}</a:tableStyleId>
              </a:tblPr>
              <a:tblGrid>
                <a:gridCol w="691366"/>
                <a:gridCol w="1886859"/>
                <a:gridCol w="3726180"/>
                <a:gridCol w="1764030"/>
                <a:gridCol w="1584325"/>
                <a:gridCol w="2297195"/>
              </a:tblGrid>
              <a:tr h="874262">
                <a:tc>
                  <a:txBody>
                    <a:bodyPr/>
                    <a:lstStyle/>
                    <a:p>
                      <a:r>
                        <a:rPr lang="en-US" dirty="0" err="1"/>
                        <a:t>S.No</a:t>
                      </a:r>
                      <a:endParaRPr lang="en-US" dirty="0"/>
                    </a:p>
                  </a:txBody>
                  <a:tcPr/>
                </a:tc>
                <a:tc>
                  <a:txBody>
                    <a:bodyPr/>
                    <a:lstStyle/>
                    <a:p>
                      <a:pPr algn="ctr"/>
                      <a:r>
                        <a:rPr lang="en-US" dirty="0"/>
                        <a:t>Title of the Paper</a:t>
                      </a:r>
                      <a:endParaRPr lang="en-US" dirty="0"/>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YEAR</a:t>
                      </a:r>
                      <a:endParaRPr lang="en-US" dirty="0"/>
                    </a:p>
                  </a:txBody>
                  <a:tcPr/>
                </a:tc>
                <a:tc>
                  <a:txBody>
                    <a:bodyPr/>
                    <a:lstStyle/>
                    <a:p>
                      <a:pPr algn="ctr"/>
                      <a:r>
                        <a:rPr lang="en-US" dirty="0"/>
                        <a:t>AUTHOR NAMES</a:t>
                      </a:r>
                      <a:endParaRPr lang="en-US" dirty="0"/>
                    </a:p>
                  </a:txBody>
                  <a:tcPr/>
                </a:tc>
              </a:tr>
              <a:tr h="2069898">
                <a:tc>
                  <a:txBody>
                    <a:bodyPr/>
                    <a:lstStyle/>
                    <a:p>
                      <a:pPr algn="ctr"/>
                      <a:r>
                        <a:rPr lang="en-US" sz="1600" dirty="0">
                          <a:latin typeface="Times New Roman" panose="02020603050405020304" pitchFamily="18" charset="0"/>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sym typeface="+mn-ea"/>
                        </a:rPr>
                        <a:t>Sleep Apnea Detection Based on Time and Frequency Domain Analysis of ECG and SpO2 Signals</a:t>
                      </a:r>
                      <a:endParaRPr lang="en-US" sz="1600" b="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effectLst/>
                          <a:latin typeface="Times New Roman" panose="02020603050405020304" pitchFamily="18" charset="0"/>
                          <a:cs typeface="Times New Roman" panose="02020603050405020304" pitchFamily="18" charset="0"/>
                          <a:sym typeface="+mn-ea"/>
                        </a:rPr>
                        <a:t>The authors propose a method for detecting sleep apnea using time and frequency domain analysis of ECG and SpO2 signals. By applying machine learning algorithms to these physiological signals, they achieve high accuracy in identifying sleep apnea events.</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Time-Domain Analysis &amp; </a:t>
                      </a:r>
                      <a:r>
                        <a:rPr lang="en-US" sz="1600" dirty="0">
                          <a:latin typeface="Times New Roman" panose="02020603050405020304" pitchFamily="18" charset="0"/>
                          <a:cs typeface="Times New Roman" panose="02020603050405020304" pitchFamily="18" charset="0"/>
                          <a:sym typeface="+mn-ea"/>
                        </a:rPr>
                        <a:t>Frequency Domain Analysis</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sym typeface="+mn-ea"/>
                        </a:rPr>
                        <a:t>2020</a:t>
                      </a:r>
                      <a:endParaRPr lang="en-US" sz="1600" b="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fi-FI" sz="1600" dirty="0">
                          <a:latin typeface="Times New Roman" panose="02020603050405020304" pitchFamily="18" charset="0"/>
                          <a:cs typeface="Times New Roman" panose="02020603050405020304" pitchFamily="18" charset="0"/>
                          <a:sym typeface="+mn-ea"/>
                        </a:rPr>
                        <a:t>M. J. Sun, Z. F. Wu, &amp; X. B. Lu</a:t>
                      </a:r>
                      <a:endParaRPr lang="en-US" sz="1600" b="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r>
              <a:tr h="1922835">
                <a:tc>
                  <a:txBody>
                    <a:bodyPr/>
                    <a:lstStyle/>
                    <a:p>
                      <a:pPr algn="ctr"/>
                      <a:r>
                        <a:rPr lang="en-US" sz="1600" dirty="0">
                          <a:latin typeface="Times New Roman" panose="02020603050405020304" pitchFamily="18" charset="0"/>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sym typeface="+mn-ea"/>
                        </a:rPr>
                        <a:t>Sleep Disorder Classification Using EEG Signal Analysis and Machine Learning</a:t>
                      </a:r>
                      <a:endParaRPr lang="en-US" sz="1600" b="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effectLst/>
                          <a:latin typeface="Times New Roman" panose="02020603050405020304" pitchFamily="18" charset="0"/>
                          <a:cs typeface="Times New Roman" panose="02020603050405020304" pitchFamily="18" charset="0"/>
                          <a:sym typeface="+mn-ea"/>
                        </a:rPr>
                        <a:t>The authors present a comprehensive approach to sleep disorder classification using EEG signal analysis and machine learning techniques. By extracting relevant features from EEG signals and applying classifiers such as SVM and deep neural networks, they achieve high classification accuracy</a:t>
                      </a:r>
                      <a:endParaRPr lang="en-US" sz="1600" dirty="0">
                        <a:latin typeface="Times New Roman" panose="02020603050405020304" pitchFamily="18" charset="0"/>
                        <a:cs typeface="Times New Roman" panose="02020603050405020304" pitchFamily="18" charset="0"/>
                      </a:endParaRPr>
                    </a:p>
                  </a:txBody>
                  <a:tcPr/>
                </a:tc>
                <a:tc>
                  <a:txBody>
                    <a:bodyPr/>
                    <a:lstStyle/>
                    <a:p>
                      <a:pPr algn="l">
                        <a:lnSpc>
                          <a:spcPct val="105000"/>
                        </a:lnSpc>
                        <a:spcAft>
                          <a:spcPts val="1000"/>
                        </a:spcAft>
                      </a:pPr>
                      <a:r>
                        <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  EEG signal    analysis    &amp; Machine Learning Algorithms</a:t>
                      </a:r>
                      <a:endPar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175" marR="1270" marT="97155" marB="3810"/>
                </a:tc>
                <a:tc>
                  <a:txBody>
                    <a:bodyPr/>
                    <a:lstStyle/>
                    <a:p>
                      <a:pPr algn="l"/>
                      <a:r>
                        <a:rPr lang="en-US" sz="1600" dirty="0">
                          <a:latin typeface="Times New Roman" panose="02020603050405020304" pitchFamily="18" charset="0"/>
                          <a:cs typeface="Times New Roman" panose="02020603050405020304" pitchFamily="18" charset="0"/>
                        </a:rPr>
                        <a:t>2021</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it-IT" sz="1600" dirty="0">
                          <a:effectLst/>
                          <a:latin typeface="Times New Roman" panose="02020603050405020304" pitchFamily="18" charset="0"/>
                          <a:cs typeface="Times New Roman" panose="02020603050405020304" pitchFamily="18" charset="0"/>
                          <a:sym typeface="+mn-ea"/>
                        </a:rPr>
                        <a:t>A. K. Vuppalapati, V. Guddeti, &amp; P. Prasad</a:t>
                      </a:r>
                      <a:endParaRPr lang="en-US" sz="1600" b="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r>
              <a:tr h="1822746">
                <a:tc>
                  <a:txBody>
                    <a:bodyPr/>
                    <a:lstStyle/>
                    <a:p>
                      <a:pPr algn="ctr"/>
                      <a:r>
                        <a:rPr lang="en-US" sz="1600" dirty="0">
                          <a:latin typeface="Times New Roman" panose="02020603050405020304" pitchFamily="18" charset="0"/>
                          <a:cs typeface="Times New Roman" panose="02020603050405020304" pitchFamily="18" charset="0"/>
                        </a:rPr>
                        <a:t>5.</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effectLst/>
                          <a:latin typeface="Times New Roman" panose="02020603050405020304" pitchFamily="18" charset="0"/>
                          <a:cs typeface="Times New Roman" panose="02020603050405020304" pitchFamily="18" charset="0"/>
                          <a:sym typeface="+mn-ea"/>
                        </a:rPr>
                        <a:t>Classification of Sleep Disorders Using Machine Learning Algorithms</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effectLst/>
                          <a:latin typeface="Times New Roman" panose="02020603050405020304" pitchFamily="18" charset="0"/>
                          <a:cs typeface="Times New Roman" panose="02020603050405020304" pitchFamily="18" charset="0"/>
                          <a:sym typeface="+mn-ea"/>
                        </a:rPr>
                        <a:t>This study explores various machine learning algorithms for the classification of sleep disorders based on polysomnography (PSG) data.</a:t>
                      </a:r>
                      <a:endParaRPr lang="en-US" sz="1600" b="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marR="2540" algn="l">
                        <a:lnSpc>
                          <a:spcPct val="105000"/>
                        </a:lnSpc>
                        <a:spcAft>
                          <a:spcPts val="1000"/>
                        </a:spcAft>
                      </a:pP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Machine Learning Algorithms</a:t>
                      </a:r>
                      <a:endPar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175" marR="1270" marT="97155" marB="3810"/>
                </a:tc>
                <a:tc>
                  <a:txBody>
                    <a:bodyPr/>
                    <a:lstStyle/>
                    <a:p>
                      <a:pPr algn="l"/>
                      <a:r>
                        <a:rPr lang="en-US" sz="1600" dirty="0">
                          <a:latin typeface="Times New Roman" panose="02020603050405020304" pitchFamily="18" charset="0"/>
                          <a:cs typeface="Times New Roman" panose="02020603050405020304" pitchFamily="18" charset="0"/>
                        </a:rPr>
                        <a:t>2023</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effectLst/>
                          <a:latin typeface="Times New Roman" panose="02020603050405020304" pitchFamily="18" charset="0"/>
                          <a:cs typeface="Times New Roman" panose="02020603050405020304" pitchFamily="18" charset="0"/>
                          <a:sym typeface="+mn-ea"/>
                        </a:rPr>
                        <a:t>T. Radha, V. S. Kumar, &amp; S. Pradeep</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US" sz="3200" b="1" dirty="0">
                <a:solidFill>
                  <a:srgbClr val="6666FF"/>
                </a:solidFill>
              </a:rPr>
              <a:t>PROPOSED SYSTEM</a:t>
            </a:r>
            <a:endParaRPr lang="en-IN" sz="3200" b="1" dirty="0">
              <a:solidFill>
                <a:srgbClr val="6666FF"/>
              </a:solidFill>
            </a:endParaRPr>
          </a:p>
        </p:txBody>
      </p:sp>
      <p:sp>
        <p:nvSpPr>
          <p:cNvPr id="3" name="Content Placeholder 2"/>
          <p:cNvSpPr>
            <a:spLocks noGrp="1"/>
          </p:cNvSpPr>
          <p:nvPr>
            <p:ph sz="quarter" idx="13"/>
          </p:nvPr>
        </p:nvSpPr>
        <p:spPr>
          <a:xfrm>
            <a:off x="233081" y="1631576"/>
            <a:ext cx="11761695" cy="4840941"/>
          </a:xfrm>
          <a:prstGeom prst="rect">
            <a:avLst/>
          </a:prstGeom>
        </p:spPr>
        <p:txBody>
          <a:bodyPr>
            <a:normAutofit/>
          </a:bodyPr>
          <a:lstStyle/>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The proposed system implements ensemble learning techniques to improve the classification of sleep disorders.</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The Stacking Classifier involves training multiple base models and then using another model to combine their predictions. </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rPr>
              <a:t>The Voting Classifier combines the predictions of multiple models through majority voting or averaging.</a:t>
            </a:r>
            <a:endParaRPr lang="en-IN"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Improved Performance and Robustness: Ensemble learning techniques combine the strengths of multiple base models to enhance overall performance and robustness.</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rPr>
              <a:t>The Voting Classifier provides a more stable and accurate classification outcome by combining the predictions of multiple models</a:t>
            </a:r>
            <a:endParaRPr lang="en-US" sz="16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US" sz="3200" b="1" dirty="0">
                <a:solidFill>
                  <a:srgbClr val="6666FF"/>
                </a:solidFill>
              </a:rPr>
              <a:t>MINIMUM SYSTEM REQUIREMENTS</a:t>
            </a:r>
            <a:endParaRPr lang="en-IN" sz="3200" b="1" dirty="0">
              <a:solidFill>
                <a:srgbClr val="6666FF"/>
              </a:solidFill>
            </a:endParaRPr>
          </a:p>
        </p:txBody>
      </p:sp>
      <p:sp>
        <p:nvSpPr>
          <p:cNvPr id="5" name="TextBox 4"/>
          <p:cNvSpPr txBox="1"/>
          <p:nvPr/>
        </p:nvSpPr>
        <p:spPr>
          <a:xfrm>
            <a:off x="928918" y="1640126"/>
            <a:ext cx="10305143" cy="5400675"/>
          </a:xfrm>
          <a:prstGeom prst="rect">
            <a:avLst/>
          </a:prstGeom>
          <a:noFill/>
        </p:spPr>
        <p:txBody>
          <a:bodyPr wrap="square" rtlCol="0">
            <a:spAutoFit/>
          </a:bodyPr>
          <a:lstStyle/>
          <a:p>
            <a:pPr>
              <a:lnSpc>
                <a:spcPct val="150000"/>
              </a:lnSpc>
            </a:pPr>
            <a:r>
              <a:rPr lang="en-GB" sz="2400" b="1" dirty="0">
                <a:solidFill>
                  <a:srgbClr val="FF0000"/>
                </a:solidFill>
              </a:rPr>
              <a:t>Software Requirements:</a:t>
            </a:r>
            <a:r>
              <a:rPr lang="en-GB" sz="2400" b="1" dirty="0"/>
              <a:t>							</a:t>
            </a:r>
            <a:endParaRPr lang="en-GB" dirty="0"/>
          </a:p>
          <a:p>
            <a:pPr>
              <a:lnSpc>
                <a:spcPct val="150000"/>
              </a:lnSpc>
            </a:pPr>
            <a:r>
              <a:rPr lang="en-GB" sz="2000" b="1" dirty="0"/>
              <a:t>Application platform : </a:t>
            </a:r>
            <a:r>
              <a:rPr lang="en-GB" sz="2000" dirty="0">
                <a:sym typeface="+mn-ea"/>
              </a:rPr>
              <a:t>Python 3.10.8</a:t>
            </a:r>
            <a:r>
              <a:rPr lang="en-GB" sz="2000" dirty="0"/>
              <a:t>		</a:t>
            </a:r>
            <a:endParaRPr lang="en-GB" sz="2000" dirty="0"/>
          </a:p>
          <a:p>
            <a:pPr>
              <a:lnSpc>
                <a:spcPct val="150000"/>
              </a:lnSpc>
            </a:pPr>
            <a:r>
              <a:rPr lang="en-GB" sz="2000" b="1" dirty="0"/>
              <a:t>Operating System	   : </a:t>
            </a:r>
            <a:r>
              <a:rPr lang="en-US" sz="2000" kern="0" dirty="0">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Windows 8/10/11</a:t>
            </a:r>
            <a:endParaRPr lang="en-GB" sz="2000" dirty="0"/>
          </a:p>
          <a:p>
            <a:pPr>
              <a:lnSpc>
                <a:spcPct val="150000"/>
              </a:lnSpc>
            </a:pPr>
            <a:r>
              <a:rPr lang="en-GB" sz="2000" b="1" dirty="0"/>
              <a:t>IDE	</a:t>
            </a:r>
            <a:r>
              <a:rPr lang="en-GB" sz="2000" dirty="0"/>
              <a:t>				   : </a:t>
            </a:r>
            <a:r>
              <a:rPr lang="en-US" sz="2000" kern="0" dirty="0" err="1">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VSCode</a:t>
            </a:r>
            <a:endParaRPr lang="en-GB" sz="2000" dirty="0"/>
          </a:p>
          <a:p>
            <a:pPr>
              <a:lnSpc>
                <a:spcPct val="150000"/>
              </a:lnSpc>
            </a:pPr>
            <a:r>
              <a:rPr lang="en-US" sz="2000" b="1" kern="0" dirty="0">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Server side Script     </a:t>
            </a:r>
            <a:r>
              <a:rPr lang="en-US" altLang="en-GB" sz="2000" dirty="0"/>
              <a:t> </a:t>
            </a:r>
            <a:r>
              <a:rPr lang="en-GB" sz="2000" dirty="0"/>
              <a:t>: </a:t>
            </a:r>
            <a:r>
              <a:rPr lang="en-US" sz="2000" kern="0" dirty="0">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HTML, CSS, Bootstrap &amp; JS</a:t>
            </a:r>
            <a:endParaRPr lang="en-IN" sz="2000" dirty="0"/>
          </a:p>
          <a:p>
            <a:pPr>
              <a:lnSpc>
                <a:spcPct val="150000"/>
              </a:lnSpc>
            </a:pPr>
            <a:r>
              <a:rPr lang="en-GB" sz="2200" dirty="0"/>
              <a:t>                                         </a:t>
            </a:r>
            <a:endParaRPr lang="en-GB" dirty="0"/>
          </a:p>
          <a:p>
            <a:pPr>
              <a:lnSpc>
                <a:spcPct val="150000"/>
              </a:lnSpc>
            </a:pPr>
            <a:r>
              <a:rPr lang="en-GB" sz="2400" b="1" dirty="0">
                <a:solidFill>
                  <a:srgbClr val="FF0000"/>
                </a:solidFill>
              </a:rPr>
              <a:t>Hardware Requirements:</a:t>
            </a:r>
            <a:endParaRPr lang="en-GB" sz="2000" b="1" dirty="0"/>
          </a:p>
          <a:p>
            <a:pPr>
              <a:lnSpc>
                <a:spcPct val="150000"/>
              </a:lnSpc>
            </a:pPr>
            <a:r>
              <a:rPr lang="en-GB" sz="2000" b="1" dirty="0"/>
              <a:t>RAM	     : </a:t>
            </a:r>
            <a:r>
              <a:rPr lang="en-US" altLang="en-GB" sz="2000" b="1" dirty="0"/>
              <a:t>8</a:t>
            </a:r>
            <a:r>
              <a:rPr lang="en-US" sz="2000" dirty="0">
                <a:latin typeface="Trebuchet MS" panose="020B0603020202020204" charset="0"/>
                <a:cs typeface="Trebuchet MS" panose="020B0603020202020204" charset="0"/>
                <a:sym typeface="+mn-ea"/>
              </a:rPr>
              <a:t>GB (min)</a:t>
            </a:r>
            <a:endParaRPr lang="en-GB" sz="2000" dirty="0"/>
          </a:p>
          <a:p>
            <a:pPr>
              <a:lnSpc>
                <a:spcPct val="150000"/>
              </a:lnSpc>
            </a:pPr>
            <a:r>
              <a:rPr lang="en-GB" sz="2000" b="1" dirty="0"/>
              <a:t>Processor  : </a:t>
            </a:r>
            <a:r>
              <a:rPr lang="en-US" sz="2000" dirty="0">
                <a:latin typeface="Trebuchet MS" panose="020B0603020202020204" charset="0"/>
                <a:cs typeface="Trebuchet MS" panose="020B0603020202020204" charset="0"/>
                <a:sym typeface="+mn-ea"/>
              </a:rPr>
              <a:t>I5/Intel Processor</a:t>
            </a:r>
            <a:endParaRPr lang="en-US" sz="2000" dirty="0">
              <a:latin typeface="Times New Roman" panose="02020603050405020304" pitchFamily="18" charset="0"/>
              <a:cs typeface="Times New Roman" panose="02020603050405020304" pitchFamily="18" charset="0"/>
              <a:sym typeface="+mn-ea"/>
            </a:endParaRPr>
          </a:p>
          <a:p>
            <a:pPr>
              <a:lnSpc>
                <a:spcPct val="150000"/>
              </a:lnSpc>
            </a:pPr>
            <a:r>
              <a:rPr lang="en-US" sz="2000" b="1" dirty="0">
                <a:latin typeface="Trebuchet MS" panose="020B0603020202020204" charset="0"/>
                <a:cs typeface="Trebuchet MS" panose="020B0603020202020204" charset="0"/>
                <a:sym typeface="+mn-ea"/>
              </a:rPr>
              <a:t>Hard Disk </a:t>
            </a:r>
            <a:r>
              <a:rPr lang="en-US" sz="2000" dirty="0">
                <a:latin typeface="Times New Roman" panose="02020603050405020304" pitchFamily="18" charset="0"/>
                <a:cs typeface="Times New Roman" panose="02020603050405020304" pitchFamily="18" charset="0"/>
                <a:sym typeface="+mn-ea"/>
              </a:rPr>
              <a:t>   :</a:t>
            </a:r>
            <a:r>
              <a:rPr lang="en-US" sz="2000" dirty="0">
                <a:latin typeface="Trebuchet MS" panose="020B0603020202020204" charset="0"/>
                <a:cs typeface="Trebuchet MS" panose="020B0603020202020204" charset="0"/>
                <a:sym typeface="+mn-ea"/>
              </a:rPr>
              <a:t>128 GB</a:t>
            </a:r>
            <a:endParaRPr lang="en-US" sz="2000" dirty="0">
              <a:latin typeface="Times New Roman" panose="02020603050405020304" pitchFamily="18" charset="0"/>
              <a:cs typeface="Times New Roman" panose="02020603050405020304" pitchFamily="18" charset="0"/>
            </a:endParaRPr>
          </a:p>
          <a:p>
            <a:pPr>
              <a:lnSpc>
                <a:spcPct val="150000"/>
              </a:lnSpc>
            </a:pPr>
            <a:endParaRPr lang="en-IN" sz="2000" dirty="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IN" sz="3200" b="1" dirty="0">
                <a:solidFill>
                  <a:srgbClr val="6666FF"/>
                </a:solidFill>
              </a:rPr>
              <a:t>REFERENCES</a:t>
            </a:r>
            <a:endParaRPr lang="en-IN" sz="3200" b="1" dirty="0">
              <a:solidFill>
                <a:srgbClr val="6666FF"/>
              </a:solidFill>
            </a:endParaRPr>
          </a:p>
        </p:txBody>
      </p:sp>
      <p:sp>
        <p:nvSpPr>
          <p:cNvPr id="5" name="TextBox 4"/>
          <p:cNvSpPr txBox="1"/>
          <p:nvPr/>
        </p:nvSpPr>
        <p:spPr>
          <a:xfrm>
            <a:off x="815789" y="1619914"/>
            <a:ext cx="10803755" cy="5036185"/>
          </a:xfrm>
          <a:prstGeom prst="rect">
            <a:avLst/>
          </a:prstGeom>
          <a:noFill/>
        </p:spPr>
        <p:txBody>
          <a:bodyPr wrap="square" rtlCol="0">
            <a:spAutoFit/>
          </a:bodyPr>
          <a:lstStyle/>
          <a:p>
            <a:pPr algn="just">
              <a:lnSpc>
                <a:spcPct val="150000"/>
              </a:lnSpc>
              <a:spcAft>
                <a:spcPts val="800"/>
              </a:spcAft>
            </a:pPr>
            <a:r>
              <a:rPr lang="en-US" altLang="en-IN" sz="1600" b="1" dirty="0" err="1">
                <a:effectLst/>
                <a:latin typeface="Times New Roman" panose="02020603050405020304" pitchFamily="18" charset="0"/>
                <a:ea typeface="Calibri" panose="020F0502020204030204" charset="0"/>
                <a:cs typeface="Times New Roman" panose="02020603050405020304" pitchFamily="18" charset="0"/>
                <a:sym typeface="+mn-ea"/>
              </a:rPr>
              <a:t>1.  </a:t>
            </a:r>
            <a:r>
              <a:rPr lang="en-IN" sz="1600" b="1" dirty="0" err="1">
                <a:effectLst/>
                <a:latin typeface="Times New Roman" panose="02020603050405020304" pitchFamily="18" charset="0"/>
                <a:ea typeface="Calibri" panose="020F0502020204030204" charset="0"/>
                <a:cs typeface="Times New Roman" panose="02020603050405020304" pitchFamily="18" charset="0"/>
                <a:sym typeface="+mn-ea"/>
              </a:rPr>
              <a:t>A</a:t>
            </a:r>
            <a:r>
              <a:rPr lang="en-US" altLang="en-IN" sz="1600" b="1" dirty="0" err="1">
                <a:effectLst/>
                <a:latin typeface="Times New Roman" panose="02020603050405020304" pitchFamily="18" charset="0"/>
                <a:ea typeface="Calibri" panose="020F0502020204030204" charset="0"/>
                <a:cs typeface="Times New Roman" panose="02020603050405020304" pitchFamily="18" charset="0"/>
                <a:sym typeface="+mn-ea"/>
              </a:rPr>
              <a:t>LICKOVIC, E &amp;</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S</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UBASI</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A. (2018)</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sz="1600" dirty="0">
                <a:effectLst/>
                <a:latin typeface="Times New Roman" panose="02020603050405020304" pitchFamily="18" charset="0"/>
                <a:ea typeface="Calibri" panose="020F0502020204030204" charset="0"/>
                <a:cs typeface="Times New Roman" panose="02020603050405020304" pitchFamily="18" charset="0"/>
                <a:sym typeface="+mn-ea"/>
              </a:rPr>
              <a:t> Ensemble SVM Method for Automatic Sleep Stage Classification. IEEE Transactions on Instrumentation and Measurement.</a:t>
            </a:r>
            <a:endParaRPr lang="en-IN" sz="1600" b="1" dirty="0">
              <a:effectLst/>
              <a:latin typeface="Times New Roman" panose="02020603050405020304" pitchFamily="18" charset="0"/>
              <a:ea typeface="Calibri" panose="020F0502020204030204" charset="0"/>
              <a:cs typeface="Times New Roman" panose="02020603050405020304" pitchFamily="18" charset="0"/>
              <a:sym typeface="+mn-ea"/>
            </a:endParaRPr>
          </a:p>
          <a:p>
            <a:pPr algn="just">
              <a:lnSpc>
                <a:spcPct val="150000"/>
              </a:lnSpc>
              <a:spcAft>
                <a:spcPts val="800"/>
              </a:spcAft>
            </a:pP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2.  </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T</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RAN</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C., W</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IJESYRIYA</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Y., </a:t>
            </a:r>
            <a:r>
              <a:rPr lang="en-IN" sz="1600" b="1" dirty="0" err="1">
                <a:effectLst/>
                <a:latin typeface="Times New Roman" panose="02020603050405020304" pitchFamily="18" charset="0"/>
                <a:ea typeface="Calibri" panose="020F0502020204030204" charset="0"/>
                <a:cs typeface="Times New Roman" panose="02020603050405020304" pitchFamily="18" charset="0"/>
                <a:sym typeface="+mn-ea"/>
              </a:rPr>
              <a:t>T</a:t>
            </a:r>
            <a:r>
              <a:rPr lang="en-US" altLang="en-IN" sz="1600" b="1" dirty="0" err="1">
                <a:effectLst/>
                <a:latin typeface="Times New Roman" panose="02020603050405020304" pitchFamily="18" charset="0"/>
                <a:ea typeface="Calibri" panose="020F0502020204030204" charset="0"/>
                <a:cs typeface="Times New Roman" panose="02020603050405020304" pitchFamily="18" charset="0"/>
                <a:sym typeface="+mn-ea"/>
              </a:rPr>
              <a:t>HURAISINGHAM</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R., C</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RAIG</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A., &amp; N</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GUYEN</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H. (2019)</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sz="1600" dirty="0">
                <a:effectLst/>
                <a:latin typeface="Times New Roman" panose="02020603050405020304" pitchFamily="18" charset="0"/>
                <a:ea typeface="Calibri" panose="020F0502020204030204" charset="0"/>
                <a:cs typeface="Times New Roman" panose="02020603050405020304" pitchFamily="18" charset="0"/>
                <a:sym typeface="+mn-ea"/>
              </a:rPr>
              <a:t> Deep Learning for Classification of Sleep Stages. Advances in Biomedical Signal Processing.</a:t>
            </a:r>
            <a:endParaRPr lang="en-IN" sz="1600" dirty="0">
              <a:effectLst/>
              <a:latin typeface="Times New Roman" panose="02020603050405020304" pitchFamily="18" charset="0"/>
              <a:ea typeface="Calibri" panose="020F0502020204030204" charset="0"/>
              <a:cs typeface="Times New Roman" panose="02020603050405020304" pitchFamily="18" charset="0"/>
            </a:endParaRPr>
          </a:p>
          <a:p>
            <a:pPr algn="just">
              <a:lnSpc>
                <a:spcPct val="150000"/>
              </a:lnSpc>
              <a:spcAft>
                <a:spcPts val="800"/>
              </a:spcAft>
            </a:pP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3</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  </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S</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UN</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M. J., W</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U</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Z. F., &amp; L</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U</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X. B. (2020)</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sz="1600" dirty="0">
                <a:effectLst/>
                <a:latin typeface="Times New Roman" panose="02020603050405020304" pitchFamily="18" charset="0"/>
                <a:ea typeface="Calibri" panose="020F0502020204030204" charset="0"/>
                <a:cs typeface="Times New Roman" panose="02020603050405020304" pitchFamily="18" charset="0"/>
                <a:sym typeface="+mn-ea"/>
              </a:rPr>
              <a:t> Sleep </a:t>
            </a:r>
            <a:r>
              <a:rPr lang="en-IN" sz="1600" dirty="0" err="1">
                <a:effectLst/>
                <a:latin typeface="Times New Roman" panose="02020603050405020304" pitchFamily="18" charset="0"/>
                <a:ea typeface="Calibri" panose="020F0502020204030204" charset="0"/>
                <a:cs typeface="Times New Roman" panose="02020603050405020304" pitchFamily="18" charset="0"/>
                <a:sym typeface="+mn-ea"/>
              </a:rPr>
              <a:t>Apnea</a:t>
            </a:r>
            <a:r>
              <a:rPr lang="en-IN" sz="1600" dirty="0">
                <a:effectLst/>
                <a:latin typeface="Times New Roman" panose="02020603050405020304" pitchFamily="18" charset="0"/>
                <a:ea typeface="Calibri" panose="020F0502020204030204" charset="0"/>
                <a:cs typeface="Times New Roman" panose="02020603050405020304" pitchFamily="18" charset="0"/>
                <a:sym typeface="+mn-ea"/>
              </a:rPr>
              <a:t> Detection Based on Time and Frequency Domain Analysis of ECG and SpO2 Signals. Journal of Medical Systems.</a:t>
            </a:r>
            <a:endParaRPr lang="en-IN" sz="1600" dirty="0">
              <a:effectLst/>
              <a:latin typeface="Times New Roman" panose="02020603050405020304" pitchFamily="18" charset="0"/>
              <a:ea typeface="Calibri" panose="020F0502020204030204" charset="0"/>
              <a:cs typeface="Times New Roman" panose="02020603050405020304" pitchFamily="18" charset="0"/>
              <a:sym typeface="+mn-ea"/>
            </a:endParaRPr>
          </a:p>
          <a:p>
            <a:pPr algn="just">
              <a:lnSpc>
                <a:spcPct val="150000"/>
              </a:lnSpc>
              <a:spcAft>
                <a:spcPts val="800"/>
              </a:spcAft>
            </a:pPr>
            <a:r>
              <a:rPr lang="en-US" altLang="en-IN" sz="1600" b="1" dirty="0" err="1">
                <a:effectLst/>
                <a:latin typeface="Times New Roman" panose="02020603050405020304" pitchFamily="18" charset="0"/>
                <a:ea typeface="Calibri" panose="020F0502020204030204" charset="0"/>
                <a:cs typeface="Times New Roman" panose="02020603050405020304" pitchFamily="18" charset="0"/>
                <a:sym typeface="+mn-ea"/>
              </a:rPr>
              <a:t>4.  </a:t>
            </a:r>
            <a:r>
              <a:rPr lang="en-IN" sz="1600" b="1" dirty="0" err="1">
                <a:effectLst/>
                <a:latin typeface="Times New Roman" panose="02020603050405020304" pitchFamily="18" charset="0"/>
                <a:ea typeface="Calibri" panose="020F0502020204030204" charset="0"/>
                <a:cs typeface="Times New Roman" panose="02020603050405020304" pitchFamily="18" charset="0"/>
                <a:sym typeface="+mn-ea"/>
              </a:rPr>
              <a:t>V</a:t>
            </a:r>
            <a:r>
              <a:rPr lang="en-US" altLang="en-IN" sz="1600" b="1" dirty="0" err="1">
                <a:effectLst/>
                <a:latin typeface="Times New Roman" panose="02020603050405020304" pitchFamily="18" charset="0"/>
                <a:ea typeface="Calibri" panose="020F0502020204030204" charset="0"/>
                <a:cs typeface="Times New Roman" panose="02020603050405020304" pitchFamily="18" charset="0"/>
                <a:sym typeface="+mn-ea"/>
              </a:rPr>
              <a:t>UPPALAPATHI</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A. K., </a:t>
            </a:r>
            <a:r>
              <a:rPr lang="en-IN" sz="1600" b="1" dirty="0" err="1">
                <a:effectLst/>
                <a:latin typeface="Times New Roman" panose="02020603050405020304" pitchFamily="18" charset="0"/>
                <a:ea typeface="Calibri" panose="020F0502020204030204" charset="0"/>
                <a:cs typeface="Times New Roman" panose="02020603050405020304" pitchFamily="18" charset="0"/>
                <a:sym typeface="+mn-ea"/>
              </a:rPr>
              <a:t>G</a:t>
            </a:r>
            <a:r>
              <a:rPr lang="en-US" altLang="en-IN" sz="1600" b="1" dirty="0" err="1">
                <a:effectLst/>
                <a:latin typeface="Times New Roman" panose="02020603050405020304" pitchFamily="18" charset="0"/>
                <a:ea typeface="Calibri" panose="020F0502020204030204" charset="0"/>
                <a:cs typeface="Times New Roman" panose="02020603050405020304" pitchFamily="18" charset="0"/>
                <a:sym typeface="+mn-ea"/>
              </a:rPr>
              <a:t>UDDETI</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V., &amp; P</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RASAD</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P. (2021</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sz="1600" dirty="0">
                <a:effectLst/>
                <a:latin typeface="Times New Roman" panose="02020603050405020304" pitchFamily="18" charset="0"/>
                <a:ea typeface="Calibri" panose="020F0502020204030204" charset="0"/>
                <a:cs typeface="Times New Roman" panose="02020603050405020304" pitchFamily="18" charset="0"/>
                <a:sym typeface="+mn-ea"/>
              </a:rPr>
              <a:t> Sleep Disorder Classification Using EEG Signal Analysis and Machine Learning. IEEE Access, 9, 54321-54330.</a:t>
            </a:r>
            <a:endParaRPr lang="en-IN" sz="1600" dirty="0">
              <a:effectLst/>
              <a:latin typeface="Times New Roman" panose="02020603050405020304" pitchFamily="18" charset="0"/>
              <a:ea typeface="Calibri" panose="020F0502020204030204" charset="0"/>
              <a:cs typeface="Times New Roman" panose="02020603050405020304" pitchFamily="18" charset="0"/>
              <a:sym typeface="+mn-ea"/>
            </a:endParaRPr>
          </a:p>
          <a:p>
            <a:pPr algn="just">
              <a:lnSpc>
                <a:spcPct val="150000"/>
              </a:lnSpc>
              <a:spcAft>
                <a:spcPts val="800"/>
              </a:spcAft>
            </a:pP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5.  </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R</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ADHA</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T., K</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UMAR</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V. S., &amp; P</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RADEEP</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 S. (20</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23</a:t>
            </a:r>
            <a:r>
              <a:rPr lang="en-IN" sz="1600"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US" altLang="en-IN" sz="1600"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sz="1600" dirty="0">
                <a:effectLst/>
                <a:latin typeface="Times New Roman" panose="02020603050405020304" pitchFamily="18" charset="0"/>
                <a:ea typeface="Calibri" panose="020F0502020204030204" charset="0"/>
                <a:cs typeface="Times New Roman" panose="02020603050405020304" pitchFamily="18" charset="0"/>
                <a:sym typeface="+mn-ea"/>
              </a:rPr>
              <a:t> Classification of Sleep Disorders Using Machine Learning Algorithms. International Journal of Scientific Research in Computer Science, Engineering and Information Technology, 4(3), 2456-3307.</a:t>
            </a:r>
            <a:endParaRPr lang="en-IN" sz="1600" dirty="0">
              <a:effectLst/>
              <a:latin typeface="Times New Roman" panose="02020603050405020304" pitchFamily="18" charset="0"/>
              <a:ea typeface="Calibri" panose="020F0502020204030204" charset="0"/>
              <a:cs typeface="Times New Roman" panose="02020603050405020304" pitchFamily="18" charset="0"/>
            </a:endParaRPr>
          </a:p>
          <a:p>
            <a:pPr algn="just">
              <a:lnSpc>
                <a:spcPct val="150000"/>
              </a:lnSpc>
              <a:spcAft>
                <a:spcPts val="800"/>
              </a:spcAft>
            </a:pPr>
            <a:endParaRPr lang="en-IN" sz="1600" spc="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10222" y="2401278"/>
            <a:ext cx="5345097" cy="1754326"/>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Thank You</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Questions </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0</TotalTime>
  <Words>7445</Words>
  <Application>WPS Presentation</Application>
  <PresentationFormat>Custom</PresentationFormat>
  <Paragraphs>190</Paragraphs>
  <Slides>10</Slides>
  <Notes>0</Notes>
  <HiddenSlides>0</HiddenSlides>
  <MMClips>0</MMClips>
  <ScaleCrop>false</ScaleCrop>
  <HeadingPairs>
    <vt:vector size="6" baseType="variant">
      <vt:variant>
        <vt:lpstr>已用的字体</vt:lpstr>
      </vt:variant>
      <vt:variant>
        <vt:i4>18</vt:i4>
      </vt:variant>
      <vt:variant>
        <vt:lpstr>主题</vt:lpstr>
      </vt:variant>
      <vt:variant>
        <vt:i4>5</vt:i4>
      </vt:variant>
      <vt:variant>
        <vt:lpstr>幻灯片标题</vt:lpstr>
      </vt:variant>
      <vt:variant>
        <vt:i4>10</vt:i4>
      </vt:variant>
    </vt:vector>
  </HeadingPairs>
  <TitlesOfParts>
    <vt:vector size="33" baseType="lpstr">
      <vt:lpstr>Arial</vt:lpstr>
      <vt:lpstr>SimSun</vt:lpstr>
      <vt:lpstr>Wingdings</vt:lpstr>
      <vt:lpstr>Wingdings</vt:lpstr>
      <vt:lpstr>Wingdings 2</vt:lpstr>
      <vt:lpstr>Wingdings 3</vt:lpstr>
      <vt:lpstr>Symbol</vt:lpstr>
      <vt:lpstr>Georgia</vt:lpstr>
      <vt:lpstr>Algerian</vt:lpstr>
      <vt:lpstr>Times New Roman</vt:lpstr>
      <vt:lpstr>Calibri</vt:lpstr>
      <vt:lpstr>Trebuchet MS</vt:lpstr>
      <vt:lpstr>Microsoft YaHei</vt:lpstr>
      <vt:lpstr>Arial Unicode MS</vt:lpstr>
      <vt:lpstr>Corbel</vt:lpstr>
      <vt:lpstr>Consolas</vt:lpstr>
      <vt:lpstr>Arial Narrow</vt:lpstr>
      <vt:lpstr>Candara</vt:lpstr>
      <vt:lpstr>Metro</vt:lpstr>
      <vt:lpstr>Horizon</vt:lpstr>
      <vt:lpstr>Civic</vt:lpstr>
      <vt:lpstr>Waveform</vt:lpstr>
      <vt:lpstr>Slipstream</vt:lpstr>
      <vt:lpstr>ANNAMACHARYA INSTITUTE OF TECHNOLOGY AND SCIENCES::TIRUPATI (AUTONOMOUS) Department Of Artificial Intelligence (AIDS &amp; AIML) A.Y.: 2024-2025 ABSTRACT REVIEW  Machine Learning-Based Classification of Sleep Patterns and Disorders</vt:lpstr>
      <vt:lpstr>ABSTRACT</vt:lpstr>
      <vt:lpstr>DOMAIN INTRODUCTION</vt:lpstr>
      <vt:lpstr>PowerPoint 演示文稿</vt:lpstr>
      <vt:lpstr>LITERATURE SURVEY</vt:lpstr>
      <vt:lpstr>PowerPoint 演示文稿</vt:lpstr>
      <vt:lpstr>PROPOSED SYSTEM</vt:lpstr>
      <vt:lpstr>MINIMUM SYSTEM REQUIREMENTS</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dell</cp:lastModifiedBy>
  <cp:revision>83</cp:revision>
  <dcterms:created xsi:type="dcterms:W3CDTF">2021-12-20T13:54:00Z</dcterms:created>
  <dcterms:modified xsi:type="dcterms:W3CDTF">2025-01-09T09:32:49Z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0C53C563B14C42D58DB1610764DAB016_12</vt:lpwstr>
  </property>
  <property fmtid="{D5CDD505-2E9C-101B-9397-08002B2CF9AE}" pid="3" name="KSOProductBuildVer">
    <vt:lpwstr>1033-12.2.0.13472</vt:lpwstr>
  </property>
</Properties>
</file>